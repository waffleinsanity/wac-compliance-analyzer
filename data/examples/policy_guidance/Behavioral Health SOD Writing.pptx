
<file path=[Content_Types].xml><?xml version="1.0" encoding="utf-8"?>
<Types xmlns="http://schemas.openxmlformats.org/package/2006/content-types">
  <Default Extension="jfif" ContentType="image/jpeg"/>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media/image5.jpg" ContentType="image/jpeg"/>
  <Override PartName="/ppt/media/image7.jpg" ContentType="image/jpeg"/>
  <Override PartName="/ppt/media/image8.jpg" ContentType="image/jpeg"/>
  <Override PartName="/ppt/media/image9.jpg" ContentType="image/jpeg"/>
  <Override PartName="/ppt/media/image10.jpg" ContentType="image/jpeg"/>
  <Override PartName="/ppt/media/image11.jpg" ContentType="image/jpeg"/>
  <Override PartName="/ppt/media/image12.jpg" ContentType="image/jpeg"/>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sldIdLst>
    <p:sldId id="270" r:id="rId5"/>
    <p:sldId id="258" r:id="rId6"/>
    <p:sldId id="260" r:id="rId7"/>
    <p:sldId id="274" r:id="rId8"/>
    <p:sldId id="261" r:id="rId9"/>
    <p:sldId id="276" r:id="rId10"/>
    <p:sldId id="262" r:id="rId11"/>
    <p:sldId id="277" r:id="rId12"/>
    <p:sldId id="264" r:id="rId13"/>
    <p:sldId id="284" r:id="rId14"/>
    <p:sldId id="265" r:id="rId15"/>
    <p:sldId id="279" r:id="rId16"/>
    <p:sldId id="266" r:id="rId17"/>
    <p:sldId id="280" r:id="rId18"/>
    <p:sldId id="267" r:id="rId19"/>
    <p:sldId id="281" r:id="rId20"/>
    <p:sldId id="268" r:id="rId21"/>
    <p:sldId id="271" r:id="rId22"/>
    <p:sldId id="272" r:id="rId23"/>
    <p:sldId id="273" r:id="rId24"/>
    <p:sldId id="282" r:id="rId25"/>
    <p:sldId id="283"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dd, Suzanne C  (DOH)" userId="af71578b-69d5-433a-9be5-dc8fe9528ab1" providerId="ADAL" clId="{F909BB2F-CC95-42AC-BCEF-9352AD515805}"/>
    <pc:docChg chg="undo custSel addSld delSld modSld">
      <pc:chgData name="Todd, Suzanne C  (DOH)" userId="af71578b-69d5-433a-9be5-dc8fe9528ab1" providerId="ADAL" clId="{F909BB2F-CC95-42AC-BCEF-9352AD515805}" dt="2023-08-15T15:17:06.349" v="1849" actId="1076"/>
      <pc:docMkLst>
        <pc:docMk/>
      </pc:docMkLst>
      <pc:sldChg chg="modSp add del mod">
        <pc:chgData name="Todd, Suzanne C  (DOH)" userId="af71578b-69d5-433a-9be5-dc8fe9528ab1" providerId="ADAL" clId="{F909BB2F-CC95-42AC-BCEF-9352AD515805}" dt="2023-07-28T16:35:05.846" v="78" actId="6549"/>
        <pc:sldMkLst>
          <pc:docMk/>
          <pc:sldMk cId="487920764" sldId="258"/>
        </pc:sldMkLst>
      </pc:sldChg>
      <pc:sldChg chg="modSp mod">
        <pc:chgData name="Todd, Suzanne C  (DOH)" userId="af71578b-69d5-433a-9be5-dc8fe9528ab1" providerId="ADAL" clId="{F909BB2F-CC95-42AC-BCEF-9352AD515805}" dt="2023-07-28T16:44:07.060" v="401" actId="33524"/>
        <pc:sldMkLst>
          <pc:docMk/>
          <pc:sldMk cId="234459859" sldId="260"/>
        </pc:sldMkLst>
      </pc:sldChg>
      <pc:sldChg chg="modSp mod">
        <pc:chgData name="Todd, Suzanne C  (DOH)" userId="af71578b-69d5-433a-9be5-dc8fe9528ab1" providerId="ADAL" clId="{F909BB2F-CC95-42AC-BCEF-9352AD515805}" dt="2023-07-28T16:59:01.753" v="677" actId="20577"/>
        <pc:sldMkLst>
          <pc:docMk/>
          <pc:sldMk cId="3663717395" sldId="261"/>
        </pc:sldMkLst>
      </pc:sldChg>
      <pc:sldChg chg="modSp mod">
        <pc:chgData name="Todd, Suzanne C  (DOH)" userId="af71578b-69d5-433a-9be5-dc8fe9528ab1" providerId="ADAL" clId="{F909BB2F-CC95-42AC-BCEF-9352AD515805}" dt="2023-07-28T17:17:04.527" v="935" actId="20577"/>
        <pc:sldMkLst>
          <pc:docMk/>
          <pc:sldMk cId="3332275302" sldId="262"/>
        </pc:sldMkLst>
      </pc:sldChg>
      <pc:sldChg chg="modSp mod">
        <pc:chgData name="Todd, Suzanne C  (DOH)" userId="af71578b-69d5-433a-9be5-dc8fe9528ab1" providerId="ADAL" clId="{F909BB2F-CC95-42AC-BCEF-9352AD515805}" dt="2023-07-29T23:06:16.070" v="975" actId="20577"/>
        <pc:sldMkLst>
          <pc:docMk/>
          <pc:sldMk cId="3625022557" sldId="264"/>
        </pc:sldMkLst>
      </pc:sldChg>
      <pc:sldChg chg="modSp mod">
        <pc:chgData name="Todd, Suzanne C  (DOH)" userId="af71578b-69d5-433a-9be5-dc8fe9528ab1" providerId="ADAL" clId="{F909BB2F-CC95-42AC-BCEF-9352AD515805}" dt="2023-08-15T15:17:06.349" v="1849" actId="1076"/>
        <pc:sldMkLst>
          <pc:docMk/>
          <pc:sldMk cId="553003364" sldId="265"/>
        </pc:sldMkLst>
      </pc:sldChg>
      <pc:sldChg chg="modSp mod">
        <pc:chgData name="Todd, Suzanne C  (DOH)" userId="af71578b-69d5-433a-9be5-dc8fe9528ab1" providerId="ADAL" clId="{F909BB2F-CC95-42AC-BCEF-9352AD515805}" dt="2023-07-29T23:38:25.784" v="1358" actId="6549"/>
        <pc:sldMkLst>
          <pc:docMk/>
          <pc:sldMk cId="4084762284" sldId="267"/>
        </pc:sldMkLst>
      </pc:sldChg>
      <pc:sldChg chg="modSp mod">
        <pc:chgData name="Todd, Suzanne C  (DOH)" userId="af71578b-69d5-433a-9be5-dc8fe9528ab1" providerId="ADAL" clId="{F909BB2F-CC95-42AC-BCEF-9352AD515805}" dt="2023-07-29T23:49:39.869" v="1509" actId="13926"/>
        <pc:sldMkLst>
          <pc:docMk/>
          <pc:sldMk cId="1368993529" sldId="268"/>
        </pc:sldMkLst>
      </pc:sldChg>
      <pc:sldChg chg="del">
        <pc:chgData name="Todd, Suzanne C  (DOH)" userId="af71578b-69d5-433a-9be5-dc8fe9528ab1" providerId="ADAL" clId="{F909BB2F-CC95-42AC-BCEF-9352AD515805}" dt="2023-07-29T23:49:56.935" v="1510" actId="2696"/>
        <pc:sldMkLst>
          <pc:docMk/>
          <pc:sldMk cId="28232203" sldId="269"/>
        </pc:sldMkLst>
      </pc:sldChg>
      <pc:sldChg chg="modSp mod">
        <pc:chgData name="Todd, Suzanne C  (DOH)" userId="af71578b-69d5-433a-9be5-dc8fe9528ab1" providerId="ADAL" clId="{F909BB2F-CC95-42AC-BCEF-9352AD515805}" dt="2023-07-29T23:50:24.768" v="1512" actId="27636"/>
        <pc:sldMkLst>
          <pc:docMk/>
          <pc:sldMk cId="3071771991" sldId="271"/>
        </pc:sldMkLst>
      </pc:sldChg>
      <pc:sldChg chg="modSp mod">
        <pc:chgData name="Todd, Suzanne C  (DOH)" userId="af71578b-69d5-433a-9be5-dc8fe9528ab1" providerId="ADAL" clId="{F909BB2F-CC95-42AC-BCEF-9352AD515805}" dt="2023-07-29T23:51:04.358" v="1514" actId="6549"/>
        <pc:sldMkLst>
          <pc:docMk/>
          <pc:sldMk cId="3730851998" sldId="273"/>
        </pc:sldMkLst>
      </pc:sldChg>
      <pc:sldChg chg="addSp delSp modSp new mod modClrScheme chgLayout">
        <pc:chgData name="Todd, Suzanne C  (DOH)" userId="af71578b-69d5-433a-9be5-dc8fe9528ab1" providerId="ADAL" clId="{F909BB2F-CC95-42AC-BCEF-9352AD515805}" dt="2023-07-28T17:00:14.291" v="712" actId="14734"/>
        <pc:sldMkLst>
          <pc:docMk/>
          <pc:sldMk cId="1748972345" sldId="274"/>
        </pc:sldMkLst>
      </pc:sldChg>
      <pc:sldChg chg="addSp delSp modSp new del mod modClrScheme chgLayout">
        <pc:chgData name="Todd, Suzanne C  (DOH)" userId="af71578b-69d5-433a-9be5-dc8fe9528ab1" providerId="ADAL" clId="{F909BB2F-CC95-42AC-BCEF-9352AD515805}" dt="2023-07-28T17:03:12.245" v="746" actId="2696"/>
        <pc:sldMkLst>
          <pc:docMk/>
          <pc:sldMk cId="2909253051" sldId="275"/>
        </pc:sldMkLst>
      </pc:sldChg>
      <pc:sldChg chg="new del">
        <pc:chgData name="Todd, Suzanne C  (DOH)" userId="af71578b-69d5-433a-9be5-dc8fe9528ab1" providerId="ADAL" clId="{F909BB2F-CC95-42AC-BCEF-9352AD515805}" dt="2023-07-28T17:07:14.664" v="774" actId="2696"/>
        <pc:sldMkLst>
          <pc:docMk/>
          <pc:sldMk cId="4111534062" sldId="275"/>
        </pc:sldMkLst>
      </pc:sldChg>
      <pc:sldChg chg="modSp add mod">
        <pc:chgData name="Todd, Suzanne C  (DOH)" userId="af71578b-69d5-433a-9be5-dc8fe9528ab1" providerId="ADAL" clId="{F909BB2F-CC95-42AC-BCEF-9352AD515805}" dt="2023-07-28T17:13:35.076" v="869" actId="13926"/>
        <pc:sldMkLst>
          <pc:docMk/>
          <pc:sldMk cId="1238034687" sldId="276"/>
        </pc:sldMkLst>
      </pc:sldChg>
      <pc:sldChg chg="addSp delSp modSp new mod modClrScheme chgLayout">
        <pc:chgData name="Todd, Suzanne C  (DOH)" userId="af71578b-69d5-433a-9be5-dc8fe9528ab1" providerId="ADAL" clId="{F909BB2F-CC95-42AC-BCEF-9352AD515805}" dt="2023-07-29T23:05:46.762" v="970" actId="13926"/>
        <pc:sldMkLst>
          <pc:docMk/>
          <pc:sldMk cId="2509298696" sldId="277"/>
        </pc:sldMkLst>
      </pc:sldChg>
      <pc:sldChg chg="addSp delSp modSp new mod modClrScheme chgLayout">
        <pc:chgData name="Todd, Suzanne C  (DOH)" userId="af71578b-69d5-433a-9be5-dc8fe9528ab1" providerId="ADAL" clId="{F909BB2F-CC95-42AC-BCEF-9352AD515805}" dt="2023-07-29T23:18:32.065" v="1098" actId="20577"/>
        <pc:sldMkLst>
          <pc:docMk/>
          <pc:sldMk cId="2822355169" sldId="278"/>
        </pc:sldMkLst>
      </pc:sldChg>
      <pc:sldChg chg="addSp delSp modSp new mod modClrScheme chgLayout">
        <pc:chgData name="Todd, Suzanne C  (DOH)" userId="af71578b-69d5-433a-9be5-dc8fe9528ab1" providerId="ADAL" clId="{F909BB2F-CC95-42AC-BCEF-9352AD515805}" dt="2023-07-29T23:23:25.403" v="1183" actId="14100"/>
        <pc:sldMkLst>
          <pc:docMk/>
          <pc:sldMk cId="3557621340" sldId="279"/>
        </pc:sldMkLst>
      </pc:sldChg>
      <pc:sldChg chg="addSp modSp new mod">
        <pc:chgData name="Todd, Suzanne C  (DOH)" userId="af71578b-69d5-433a-9be5-dc8fe9528ab1" providerId="ADAL" clId="{F909BB2F-CC95-42AC-BCEF-9352AD515805}" dt="2023-07-29T23:32:50.268" v="1279" actId="20577"/>
        <pc:sldMkLst>
          <pc:docMk/>
          <pc:sldMk cId="1115813720" sldId="280"/>
        </pc:sldMkLst>
      </pc:sldChg>
      <pc:sldChg chg="addSp delSp modSp new mod modClrScheme chgLayout">
        <pc:chgData name="Todd, Suzanne C  (DOH)" userId="af71578b-69d5-433a-9be5-dc8fe9528ab1" providerId="ADAL" clId="{F909BB2F-CC95-42AC-BCEF-9352AD515805}" dt="2023-07-30T00:04:29.847" v="1840" actId="13926"/>
        <pc:sldMkLst>
          <pc:docMk/>
          <pc:sldMk cId="3283902001" sldId="281"/>
        </pc:sldMkLst>
      </pc:sldChg>
      <pc:sldChg chg="addSp delSp modSp new mod modClrScheme chgLayout">
        <pc:chgData name="Todd, Suzanne C  (DOH)" userId="af71578b-69d5-433a-9be5-dc8fe9528ab1" providerId="ADAL" clId="{F909BB2F-CC95-42AC-BCEF-9352AD515805}" dt="2023-07-29T23:56:20.048" v="1745" actId="20577"/>
        <pc:sldMkLst>
          <pc:docMk/>
          <pc:sldMk cId="2202968588" sldId="282"/>
        </pc:sldMkLst>
      </pc:sldChg>
      <pc:sldChg chg="addSp delSp modSp new mod modClrScheme chgLayout">
        <pc:chgData name="Todd, Suzanne C  (DOH)" userId="af71578b-69d5-433a-9be5-dc8fe9528ab1" providerId="ADAL" clId="{F909BB2F-CC95-42AC-BCEF-9352AD515805}" dt="2023-07-29T23:57:19.801" v="1825" actId="20577"/>
        <pc:sldMkLst>
          <pc:docMk/>
          <pc:sldMk cId="3360323603" sldId="283"/>
        </pc:sldMkLst>
      </pc:sldChg>
    </pc:docChg>
  </pc:docChgLst>
  <pc:docChgLst>
    <pc:chgData name="Milligan, Jane D (DOH)" userId="S::jane.milligan@doh.wa.gov::06d24e7d-2e4f-475e-b4ff-724e8bd74288" providerId="AD" clId="Web-{DCC8CE56-CDC1-2B05-0667-B4E156BBCBFF}"/>
    <pc:docChg chg="mod">
      <pc:chgData name="Milligan, Jane D (DOH)" userId="S::jane.milligan@doh.wa.gov::06d24e7d-2e4f-475e-b4ff-724e8bd74288" providerId="AD" clId="Web-{DCC8CE56-CDC1-2B05-0667-B4E156BBCBFF}" dt="2025-03-05T19:18:15.899" v="0" actId="33475"/>
      <pc:docMkLst>
        <pc:docMk/>
      </pc:docMkLst>
    </pc:docChg>
  </pc:docChgLst>
  <pc:docChgLst>
    <pc:chgData name="Kuykendall, Jon  (DOH)" userId="d913a90c-1e09-43d3-802c-6017c2088196" providerId="ADAL" clId="{22D6D971-81A8-444C-9D91-5577FA95D32F}"/>
    <pc:docChg chg="undo custSel addSld delSld modSld">
      <pc:chgData name="Kuykendall, Jon  (DOH)" userId="d913a90c-1e09-43d3-802c-6017c2088196" providerId="ADAL" clId="{22D6D971-81A8-444C-9D91-5577FA95D32F}" dt="2023-07-31T22:21:24.146" v="1152" actId="20577"/>
      <pc:docMkLst>
        <pc:docMk/>
      </pc:docMkLst>
      <pc:sldChg chg="modSp mod">
        <pc:chgData name="Kuykendall, Jon  (DOH)" userId="d913a90c-1e09-43d3-802c-6017c2088196" providerId="ADAL" clId="{22D6D971-81A8-444C-9D91-5577FA95D32F}" dt="2023-07-31T21:25:26.458" v="51" actId="20577"/>
        <pc:sldMkLst>
          <pc:docMk/>
          <pc:sldMk cId="234459859" sldId="260"/>
        </pc:sldMkLst>
      </pc:sldChg>
      <pc:sldChg chg="modSp mod">
        <pc:chgData name="Kuykendall, Jon  (DOH)" userId="d913a90c-1e09-43d3-802c-6017c2088196" providerId="ADAL" clId="{22D6D971-81A8-444C-9D91-5577FA95D32F}" dt="2023-07-31T21:30:29.387" v="139" actId="20577"/>
        <pc:sldMkLst>
          <pc:docMk/>
          <pc:sldMk cId="3663717395" sldId="261"/>
        </pc:sldMkLst>
      </pc:sldChg>
      <pc:sldChg chg="modSp mod">
        <pc:chgData name="Kuykendall, Jon  (DOH)" userId="d913a90c-1e09-43d3-802c-6017c2088196" providerId="ADAL" clId="{22D6D971-81A8-444C-9D91-5577FA95D32F}" dt="2023-07-31T21:35:05.699" v="383" actId="20577"/>
        <pc:sldMkLst>
          <pc:docMk/>
          <pc:sldMk cId="3332275302" sldId="262"/>
        </pc:sldMkLst>
      </pc:sldChg>
      <pc:sldChg chg="modSp mod">
        <pc:chgData name="Kuykendall, Jon  (DOH)" userId="d913a90c-1e09-43d3-802c-6017c2088196" providerId="ADAL" clId="{22D6D971-81A8-444C-9D91-5577FA95D32F}" dt="2023-07-31T21:49:34.147" v="583" actId="20577"/>
        <pc:sldMkLst>
          <pc:docMk/>
          <pc:sldMk cId="3625022557" sldId="264"/>
        </pc:sldMkLst>
      </pc:sldChg>
      <pc:sldChg chg="modSp mod">
        <pc:chgData name="Kuykendall, Jon  (DOH)" userId="d913a90c-1e09-43d3-802c-6017c2088196" providerId="ADAL" clId="{22D6D971-81A8-444C-9D91-5577FA95D32F}" dt="2023-07-31T22:05:13.288" v="872" actId="20577"/>
        <pc:sldMkLst>
          <pc:docMk/>
          <pc:sldMk cId="2983800514" sldId="266"/>
        </pc:sldMkLst>
      </pc:sldChg>
      <pc:sldChg chg="modSp mod">
        <pc:chgData name="Kuykendall, Jon  (DOH)" userId="d913a90c-1e09-43d3-802c-6017c2088196" providerId="ADAL" clId="{22D6D971-81A8-444C-9D91-5577FA95D32F}" dt="2023-07-31T22:08:22.015" v="929" actId="1076"/>
        <pc:sldMkLst>
          <pc:docMk/>
          <pc:sldMk cId="4084762284" sldId="267"/>
        </pc:sldMkLst>
      </pc:sldChg>
      <pc:sldChg chg="modSp mod">
        <pc:chgData name="Kuykendall, Jon  (DOH)" userId="d913a90c-1e09-43d3-802c-6017c2088196" providerId="ADAL" clId="{22D6D971-81A8-444C-9D91-5577FA95D32F}" dt="2023-07-31T22:11:57.376" v="948" actId="13926"/>
        <pc:sldMkLst>
          <pc:docMk/>
          <pc:sldMk cId="1368993529" sldId="268"/>
        </pc:sldMkLst>
      </pc:sldChg>
      <pc:sldChg chg="addSp delSp modSp mod">
        <pc:chgData name="Kuykendall, Jon  (DOH)" userId="d913a90c-1e09-43d3-802c-6017c2088196" providerId="ADAL" clId="{22D6D971-81A8-444C-9D91-5577FA95D32F}" dt="2023-07-31T22:14:45.740" v="1093" actId="115"/>
        <pc:sldMkLst>
          <pc:docMk/>
          <pc:sldMk cId="3071771991" sldId="271"/>
        </pc:sldMkLst>
      </pc:sldChg>
      <pc:sldChg chg="modSp mod">
        <pc:chgData name="Kuykendall, Jon  (DOH)" userId="d913a90c-1e09-43d3-802c-6017c2088196" providerId="ADAL" clId="{22D6D971-81A8-444C-9D91-5577FA95D32F}" dt="2023-07-31T22:16:07.107" v="1098" actId="20577"/>
        <pc:sldMkLst>
          <pc:docMk/>
          <pc:sldMk cId="1064846061" sldId="272"/>
        </pc:sldMkLst>
      </pc:sldChg>
      <pc:sldChg chg="modSp mod">
        <pc:chgData name="Kuykendall, Jon  (DOH)" userId="d913a90c-1e09-43d3-802c-6017c2088196" providerId="ADAL" clId="{22D6D971-81A8-444C-9D91-5577FA95D32F}" dt="2023-07-31T21:29:02.848" v="54" actId="13926"/>
        <pc:sldMkLst>
          <pc:docMk/>
          <pc:sldMk cId="1748972345" sldId="274"/>
        </pc:sldMkLst>
      </pc:sldChg>
      <pc:sldChg chg="modSp mod">
        <pc:chgData name="Kuykendall, Jon  (DOH)" userId="d913a90c-1e09-43d3-802c-6017c2088196" providerId="ADAL" clId="{22D6D971-81A8-444C-9D91-5577FA95D32F}" dt="2023-07-31T21:34:07.666" v="381" actId="20577"/>
        <pc:sldMkLst>
          <pc:docMk/>
          <pc:sldMk cId="1238034687" sldId="276"/>
        </pc:sldMkLst>
      </pc:sldChg>
      <pc:sldChg chg="modSp mod">
        <pc:chgData name="Kuykendall, Jon  (DOH)" userId="d913a90c-1e09-43d3-802c-6017c2088196" providerId="ADAL" clId="{22D6D971-81A8-444C-9D91-5577FA95D32F}" dt="2023-07-31T21:37:07.996" v="397" actId="113"/>
        <pc:sldMkLst>
          <pc:docMk/>
          <pc:sldMk cId="2509298696" sldId="277"/>
        </pc:sldMkLst>
      </pc:sldChg>
      <pc:sldChg chg="addSp delSp modSp del mod">
        <pc:chgData name="Kuykendall, Jon  (DOH)" userId="d913a90c-1e09-43d3-802c-6017c2088196" providerId="ADAL" clId="{22D6D971-81A8-444C-9D91-5577FA95D32F}" dt="2023-07-31T21:46:05.660" v="525" actId="2696"/>
        <pc:sldMkLst>
          <pc:docMk/>
          <pc:sldMk cId="2822355169" sldId="278"/>
        </pc:sldMkLst>
      </pc:sldChg>
      <pc:sldChg chg="delSp modSp mod">
        <pc:chgData name="Kuykendall, Jon  (DOH)" userId="d913a90c-1e09-43d3-802c-6017c2088196" providerId="ADAL" clId="{22D6D971-81A8-444C-9D91-5577FA95D32F}" dt="2023-07-31T21:52:51.880" v="588" actId="21"/>
        <pc:sldMkLst>
          <pc:docMk/>
          <pc:sldMk cId="3557621340" sldId="279"/>
        </pc:sldMkLst>
      </pc:sldChg>
      <pc:sldChg chg="modSp mod">
        <pc:chgData name="Kuykendall, Jon  (DOH)" userId="d913a90c-1e09-43d3-802c-6017c2088196" providerId="ADAL" clId="{22D6D971-81A8-444C-9D91-5577FA95D32F}" dt="2023-07-31T22:06:56.434" v="884" actId="20577"/>
        <pc:sldMkLst>
          <pc:docMk/>
          <pc:sldMk cId="1115813720" sldId="280"/>
        </pc:sldMkLst>
      </pc:sldChg>
      <pc:sldChg chg="modSp mod">
        <pc:chgData name="Kuykendall, Jon  (DOH)" userId="d913a90c-1e09-43d3-802c-6017c2088196" providerId="ADAL" clId="{22D6D971-81A8-444C-9D91-5577FA95D32F}" dt="2023-07-31T22:09:47.234" v="935" actId="13926"/>
        <pc:sldMkLst>
          <pc:docMk/>
          <pc:sldMk cId="3283902001" sldId="281"/>
        </pc:sldMkLst>
      </pc:sldChg>
      <pc:sldChg chg="modSp mod">
        <pc:chgData name="Kuykendall, Jon  (DOH)" userId="d913a90c-1e09-43d3-802c-6017c2088196" providerId="ADAL" clId="{22D6D971-81A8-444C-9D91-5577FA95D32F}" dt="2023-07-31T22:17:35.039" v="1131" actId="14100"/>
        <pc:sldMkLst>
          <pc:docMk/>
          <pc:sldMk cId="2202968588" sldId="282"/>
        </pc:sldMkLst>
      </pc:sldChg>
      <pc:sldChg chg="addSp delSp modSp mod setBg addAnim">
        <pc:chgData name="Kuykendall, Jon  (DOH)" userId="d913a90c-1e09-43d3-802c-6017c2088196" providerId="ADAL" clId="{22D6D971-81A8-444C-9D91-5577FA95D32F}" dt="2023-07-31T22:20:41.653" v="1150" actId="1076"/>
        <pc:sldMkLst>
          <pc:docMk/>
          <pc:sldMk cId="3360323603" sldId="283"/>
        </pc:sldMkLst>
      </pc:sldChg>
      <pc:sldChg chg="modSp new mod">
        <pc:chgData name="Kuykendall, Jon  (DOH)" userId="d913a90c-1e09-43d3-802c-6017c2088196" providerId="ADAL" clId="{22D6D971-81A8-444C-9D91-5577FA95D32F}" dt="2023-07-31T22:21:24.146" v="1152" actId="20577"/>
        <pc:sldMkLst>
          <pc:docMk/>
          <pc:sldMk cId="4258360163" sldId="284"/>
        </pc:sldMkLst>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8/11/2025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8/11/2025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8/11/2025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8/11/2025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8/11/2025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8/11/2025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8/11/2025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mt="8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8/11/2025</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3.jf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3" y="1129263"/>
            <a:ext cx="10364451" cy="1596177"/>
          </a:xfrm>
        </p:spPr>
        <p:txBody>
          <a:bodyPr/>
          <a:lstStyle/>
          <a:p>
            <a:r>
              <a:rPr lang="en-US" dirty="0">
                <a:latin typeface="Castellar" panose="020A0402060406010301" pitchFamily="18" charset="0"/>
              </a:rPr>
              <a:t>Behavioral health statement of deficiency report writing standards </a:t>
            </a:r>
          </a:p>
        </p:txBody>
      </p:sp>
      <p:pic>
        <p:nvPicPr>
          <p:cNvPr id="4" name="Content Placeholder 3"/>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2825578" y="2850292"/>
            <a:ext cx="6540843" cy="3109784"/>
          </a:xfrm>
        </p:spPr>
      </p:pic>
    </p:spTree>
    <p:extLst>
      <p:ext uri="{BB962C8B-B14F-4D97-AF65-F5344CB8AC3E}">
        <p14:creationId xmlns:p14="http://schemas.microsoft.com/office/powerpoint/2010/main" val="2711128168"/>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6111" y="345990"/>
            <a:ext cx="10364451" cy="1425146"/>
          </a:xfrm>
        </p:spPr>
        <p:txBody>
          <a:bodyPr/>
          <a:lstStyle/>
          <a:p>
            <a:r>
              <a:rPr lang="en-US" dirty="0"/>
              <a:t>Statement of deficiency principles</a:t>
            </a:r>
          </a:p>
        </p:txBody>
      </p:sp>
      <p:sp>
        <p:nvSpPr>
          <p:cNvPr id="3" name="Content Placeholder 2"/>
          <p:cNvSpPr>
            <a:spLocks noGrp="1"/>
          </p:cNvSpPr>
          <p:nvPr>
            <p:ph sz="quarter" idx="13"/>
          </p:nvPr>
        </p:nvSpPr>
        <p:spPr>
          <a:xfrm>
            <a:off x="716066" y="1672282"/>
            <a:ext cx="5106026" cy="4629663"/>
          </a:xfrm>
        </p:spPr>
        <p:txBody>
          <a:bodyPr>
            <a:normAutofit fontScale="85000" lnSpcReduction="20000"/>
          </a:bodyPr>
          <a:lstStyle/>
          <a:p>
            <a:pPr marL="342900" marR="0" lvl="0" indent="-342900">
              <a:lnSpc>
                <a:spcPct val="107000"/>
              </a:lnSpc>
              <a:spcBef>
                <a:spcPts val="0"/>
              </a:spcBef>
              <a:spcAft>
                <a:spcPts val="0"/>
              </a:spcAft>
              <a:buFont typeface="Symbol" panose="05050102010706020507" pitchFamily="18" charset="2"/>
              <a:buChar char=""/>
            </a:pPr>
            <a:r>
              <a:rPr lang="en-US" sz="1900" dirty="0">
                <a:latin typeface="Times New Roman" panose="02020603050405020304" pitchFamily="18" charset="0"/>
                <a:ea typeface="Calibri" panose="020F0502020204030204" pitchFamily="34" charset="0"/>
                <a:cs typeface="Times New Roman" panose="02020603050405020304" pitchFamily="18" charset="0"/>
              </a:rPr>
              <a:t>Write in plain language.</a:t>
            </a:r>
          </a:p>
          <a:p>
            <a:pPr marL="0" marR="0" lvl="0" indent="0">
              <a:lnSpc>
                <a:spcPct val="107000"/>
              </a:lnSpc>
              <a:spcBef>
                <a:spcPts val="0"/>
              </a:spcBef>
              <a:spcAft>
                <a:spcPts val="0"/>
              </a:spcAft>
              <a:buNone/>
            </a:pPr>
            <a:endParaRPr lang="en-US" sz="19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900" dirty="0">
                <a:latin typeface="Times New Roman" panose="02020603050405020304" pitchFamily="18" charset="0"/>
                <a:ea typeface="Calibri" panose="020F0502020204030204" pitchFamily="34" charset="0"/>
                <a:cs typeface="Times New Roman" panose="02020603050405020304" pitchFamily="18" charset="0"/>
              </a:rPr>
              <a:t>Use simple sentence structure.</a:t>
            </a:r>
          </a:p>
          <a:p>
            <a:pPr marL="342900" marR="0" lvl="0" indent="-342900">
              <a:lnSpc>
                <a:spcPct val="107000"/>
              </a:lnSpc>
              <a:spcBef>
                <a:spcPts val="0"/>
              </a:spcBef>
              <a:spcAft>
                <a:spcPts val="0"/>
              </a:spcAft>
              <a:buFont typeface="Symbol" panose="05050102010706020507" pitchFamily="18" charset="2"/>
              <a:buChar char=""/>
            </a:pPr>
            <a:endParaRPr lang="en-US" sz="19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900" dirty="0">
                <a:latin typeface="Times New Roman" panose="02020603050405020304" pitchFamily="18" charset="0"/>
                <a:ea typeface="Calibri" panose="020F0502020204030204" pitchFamily="34" charset="0"/>
                <a:cs typeface="Times New Roman" panose="02020603050405020304" pitchFamily="18" charset="0"/>
              </a:rPr>
              <a:t>avoid undefined abbreviations, initials, and technical jargon.</a:t>
            </a:r>
          </a:p>
          <a:p>
            <a:pPr marL="342900" marR="0" lvl="0" indent="-342900">
              <a:lnSpc>
                <a:spcPct val="107000"/>
              </a:lnSpc>
              <a:spcBef>
                <a:spcPts val="0"/>
              </a:spcBef>
              <a:spcAft>
                <a:spcPts val="0"/>
              </a:spcAft>
              <a:buFont typeface="Symbol" panose="05050102010706020507" pitchFamily="18" charset="2"/>
              <a:buChar char=""/>
            </a:pPr>
            <a:endParaRPr lang="en-US" sz="19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900" dirty="0">
                <a:latin typeface="Times New Roman" panose="02020603050405020304" pitchFamily="18" charset="0"/>
                <a:ea typeface="Calibri" panose="020F0502020204030204" pitchFamily="34" charset="0"/>
                <a:cs typeface="Times New Roman" panose="02020603050405020304" pitchFamily="18" charset="0"/>
              </a:rPr>
              <a:t>Try to avoid unnecessary words. if it does not directly apply to the deficiency, leave it out.</a:t>
            </a:r>
          </a:p>
          <a:p>
            <a:pPr marL="342900" marR="0" lvl="0" indent="-342900">
              <a:lnSpc>
                <a:spcPct val="107000"/>
              </a:lnSpc>
              <a:spcBef>
                <a:spcPts val="0"/>
              </a:spcBef>
              <a:spcAft>
                <a:spcPts val="0"/>
              </a:spcAft>
              <a:buFont typeface="Symbol" panose="05050102010706020507" pitchFamily="18" charset="2"/>
              <a:buChar char=""/>
            </a:pPr>
            <a:endParaRPr lang="en-US" sz="1900" dirty="0">
              <a:latin typeface="Times New Roman" panose="02020603050405020304" pitchFamily="18" charset="0"/>
              <a:ea typeface="Calibri" panose="020F0502020204030204" pitchFamily="34" charset="0"/>
              <a:cs typeface="Times New Roman" panose="02020603050405020304" pitchFamily="18" charset="0"/>
            </a:endParaRPr>
          </a:p>
          <a:p>
            <a:pPr marL="342900" indent="-342900">
              <a:lnSpc>
                <a:spcPct val="107000"/>
              </a:lnSpc>
              <a:spcBef>
                <a:spcPts val="0"/>
              </a:spcBef>
              <a:buFont typeface="Symbol" panose="05050102010706020507" pitchFamily="18" charset="2"/>
              <a:buChar char=""/>
            </a:pPr>
            <a:r>
              <a:rPr lang="en-US" sz="1900" dirty="0">
                <a:latin typeface="Times New Roman" panose="02020603050405020304" pitchFamily="18" charset="0"/>
                <a:ea typeface="Calibri" panose="020F0502020204030204" pitchFamily="34" charset="0"/>
                <a:cs typeface="Times New Roman" panose="02020603050405020304" pitchFamily="18" charset="0"/>
              </a:rPr>
              <a:t>Try to avoid vague terminology (such as, several, seems, appears, did not always, sometimes, small, timely) be specific and detailed.</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p>
          <a:p>
            <a:pPr marL="342900" indent="-342900">
              <a:lnSpc>
                <a:spcPct val="107000"/>
              </a:lnSpc>
              <a:spcBef>
                <a:spcPts val="0"/>
              </a:spcBef>
              <a:buFont typeface="Symbol" panose="05050102010706020507" pitchFamily="18" charset="2"/>
              <a:buChar char=""/>
            </a:pP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marL="342900" indent="-342900">
              <a:lnSpc>
                <a:spcPct val="107000"/>
              </a:lnSpc>
              <a:spcBef>
                <a:spcPts val="0"/>
              </a:spcBef>
              <a:buFont typeface="Symbol" panose="05050102010706020507" pitchFamily="18" charset="2"/>
              <a:buChar char=""/>
            </a:pPr>
            <a:r>
              <a:rPr lang="en-US" sz="2000" dirty="0">
                <a:latin typeface="Times New Roman" panose="02020603050405020304" pitchFamily="18" charset="0"/>
                <a:ea typeface="Calibri" panose="020F0502020204030204" pitchFamily="34" charset="0"/>
                <a:cs typeface="Times New Roman" panose="02020603050405020304" pitchFamily="18" charset="0"/>
              </a:rPr>
              <a:t>Avoid words that imply or state conclusions or OPINIONs (e.g., only, just, unsatisfactory, unnecessary,  inadequate).</a:t>
            </a:r>
          </a:p>
          <a:p>
            <a:pPr marL="342900" marR="0" lvl="0" indent="-342900">
              <a:lnSpc>
                <a:spcPct val="107000"/>
              </a:lnSpc>
              <a:spcBef>
                <a:spcPts val="0"/>
              </a:spcBef>
              <a:spcAft>
                <a:spcPts val="0"/>
              </a:spcAft>
              <a:buFont typeface="Symbol" panose="05050102010706020507" pitchFamily="18" charset="2"/>
              <a:buChar char=""/>
            </a:pPr>
            <a:endParaRPr lang="en-US" sz="19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endParaRPr lang="en-US" sz="19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endParaRPr lang="en-US" sz="1900" dirty="0">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dirty="0"/>
          </a:p>
        </p:txBody>
      </p:sp>
      <p:sp>
        <p:nvSpPr>
          <p:cNvPr id="4" name="Content Placeholder 3"/>
          <p:cNvSpPr>
            <a:spLocks noGrp="1"/>
          </p:cNvSpPr>
          <p:nvPr>
            <p:ph sz="quarter" idx="14"/>
          </p:nvPr>
        </p:nvSpPr>
        <p:spPr>
          <a:xfrm>
            <a:off x="5822092" y="1573427"/>
            <a:ext cx="5105400" cy="5016843"/>
          </a:xfrm>
        </p:spPr>
        <p:txBody>
          <a:bodyPr>
            <a:normAutofit fontScale="70000" lnSpcReduction="20000"/>
          </a:bodyPr>
          <a:lstStyle/>
          <a:p>
            <a:pPr marL="342900" indent="-342900">
              <a:lnSpc>
                <a:spcPct val="107000"/>
              </a:lnSpc>
              <a:spcBef>
                <a:spcPts val="0"/>
              </a:spcBef>
              <a:buFont typeface="Symbol" panose="05050102010706020507" pitchFamily="18" charset="2"/>
              <a:buChar char=""/>
            </a:pPr>
            <a:r>
              <a:rPr lang="en-US" sz="2800" dirty="0">
                <a:latin typeface="Times New Roman" panose="02020603050405020304" pitchFamily="18" charset="0"/>
                <a:ea typeface="Calibri" panose="020F0502020204030204" pitchFamily="34" charset="0"/>
                <a:cs typeface="Times New Roman" panose="02020603050405020304" pitchFamily="18" charset="0"/>
              </a:rPr>
              <a:t>Ensure the accuracy of quoted material.</a:t>
            </a:r>
          </a:p>
          <a:p>
            <a:pPr marL="342900" marR="0" lvl="0" indent="-342900">
              <a:lnSpc>
                <a:spcPct val="107000"/>
              </a:lnSpc>
              <a:spcBef>
                <a:spcPts val="0"/>
              </a:spcBef>
              <a:spcAft>
                <a:spcPts val="0"/>
              </a:spcAft>
              <a:buFont typeface="Symbol" panose="05050102010706020507" pitchFamily="18" charset="2"/>
              <a:buChar char=""/>
            </a:pPr>
            <a:endParaRPr lang="en-US" sz="27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Symbol" panose="05050102010706020507" pitchFamily="18" charset="2"/>
              <a:buChar char=""/>
            </a:pPr>
            <a:r>
              <a:rPr lang="en-US" sz="27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Write in past tense unless quoting someone.</a:t>
            </a:r>
          </a:p>
          <a:p>
            <a:pPr marL="0" marR="0" lvl="0" indent="0">
              <a:spcBef>
                <a:spcPts val="0"/>
              </a:spcBef>
              <a:spcAft>
                <a:spcPts val="0"/>
              </a:spcAft>
              <a:buNone/>
            </a:pPr>
            <a:endParaRPr lang="en-US" sz="27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0"/>
              </a:spcAft>
              <a:buFont typeface="Symbol" panose="05050102010706020507" pitchFamily="18" charset="2"/>
              <a:buChar char=""/>
            </a:pPr>
            <a:r>
              <a:rPr lang="en-US" sz="27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Do not</a:t>
            </a:r>
            <a:r>
              <a:rPr lang="en-US" sz="27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include dates for record or document review.</a:t>
            </a:r>
          </a:p>
          <a:p>
            <a:pPr marL="342900" marR="0" lvl="0" indent="-342900">
              <a:spcBef>
                <a:spcPts val="0"/>
              </a:spcBef>
              <a:spcAft>
                <a:spcPts val="0"/>
              </a:spcAft>
              <a:buFont typeface="Symbol" panose="05050102010706020507" pitchFamily="18" charset="2"/>
              <a:buChar char=""/>
            </a:pPr>
            <a:endParaRPr lang="en-US" sz="27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0"/>
              </a:spcAft>
              <a:buFont typeface="Symbol" panose="05050102010706020507" pitchFamily="18" charset="2"/>
              <a:buChar char=""/>
            </a:pPr>
            <a:r>
              <a:rPr lang="en-US" sz="27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Do</a:t>
            </a:r>
            <a:r>
              <a:rPr lang="en-US" sz="27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include date and time for observations and interviews.</a:t>
            </a:r>
          </a:p>
          <a:p>
            <a:pPr marL="342900" marR="0" lvl="0" indent="-342900">
              <a:spcBef>
                <a:spcPts val="0"/>
              </a:spcBef>
              <a:spcAft>
                <a:spcPts val="0"/>
              </a:spcAft>
              <a:buFont typeface="Symbol" panose="05050102010706020507" pitchFamily="18" charset="2"/>
              <a:buChar char=""/>
            </a:pPr>
            <a:endParaRPr lang="en-US" sz="27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2700" dirty="0">
                <a:latin typeface="Times New Roman" panose="02020603050405020304" pitchFamily="18" charset="0"/>
                <a:ea typeface="Calibri" panose="020F0502020204030204" pitchFamily="34" charset="0"/>
                <a:cs typeface="Times New Roman" panose="02020603050405020304" pitchFamily="18" charset="0"/>
              </a:rPr>
              <a:t>Use consistent terms when referring to facilities such as “agency” or “facility”. This may be program specific.</a:t>
            </a:r>
          </a:p>
          <a:p>
            <a:endParaRPr lang="en-US" dirty="0"/>
          </a:p>
        </p:txBody>
      </p:sp>
    </p:spTree>
    <p:extLst>
      <p:ext uri="{BB962C8B-B14F-4D97-AF65-F5344CB8AC3E}">
        <p14:creationId xmlns:p14="http://schemas.microsoft.com/office/powerpoint/2010/main" val="487920764"/>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3905" y="659027"/>
            <a:ext cx="3935688" cy="1133566"/>
          </a:xfrm>
        </p:spPr>
        <p:txBody>
          <a:bodyPr>
            <a:normAutofit fontScale="90000"/>
          </a:bodyPr>
          <a:lstStyle/>
          <a:p>
            <a:r>
              <a:rPr lang="en-US" dirty="0"/>
              <a:t>Deficient practice statement (Based on statement)</a:t>
            </a:r>
          </a:p>
        </p:txBody>
      </p:sp>
      <p:pic>
        <p:nvPicPr>
          <p:cNvPr id="5" name="Content Placeholder 4"/>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6656172" y="2008018"/>
            <a:ext cx="4366055" cy="3297150"/>
          </a:xfrm>
        </p:spPr>
      </p:pic>
      <p:sp>
        <p:nvSpPr>
          <p:cNvPr id="4" name="Text Placeholder 3"/>
          <p:cNvSpPr>
            <a:spLocks noGrp="1"/>
          </p:cNvSpPr>
          <p:nvPr>
            <p:ph type="body" sz="half" idx="2"/>
          </p:nvPr>
        </p:nvSpPr>
        <p:spPr>
          <a:xfrm>
            <a:off x="913775" y="1932636"/>
            <a:ext cx="5042183" cy="4204553"/>
          </a:xfrm>
        </p:spPr>
        <p:txBody>
          <a:bodyPr>
            <a:normAutofit lnSpcReduction="10000"/>
          </a:bodyPr>
          <a:lstStyle/>
          <a:p>
            <a:pPr marL="285750" indent="-285750" algn="l">
              <a:buFont typeface="Wingdings" panose="05000000000000000000" pitchFamily="2" charset="2"/>
              <a:buChar char="q"/>
            </a:pPr>
            <a:r>
              <a:rPr lang="en-US" dirty="0"/>
              <a:t>The first part of the statement should include two or more of the three forms of evidence. use the words “observation, interview, and/or DOCUMENT review.” The reviewer may </a:t>
            </a:r>
            <a:r>
              <a:rPr lang="en-US" i="1" dirty="0"/>
              <a:t>(when applicable) </a:t>
            </a:r>
            <a:r>
              <a:rPr lang="en-US" dirty="0"/>
              <a:t>use “RECORD review or policy and procedure review.”  </a:t>
            </a:r>
          </a:p>
          <a:p>
            <a:pPr marL="285750" indent="-285750" algn="l">
              <a:buFont typeface="Wingdings" panose="05000000000000000000" pitchFamily="2" charset="2"/>
              <a:buChar char="q"/>
            </a:pPr>
            <a:r>
              <a:rPr lang="en-US" dirty="0"/>
              <a:t>Generally, observations and interviews are considered the strongest pieces of evidence in the deficient practice statement (Based-on statement). Make sure all forms of evidence listed have corresponding findings.</a:t>
            </a:r>
          </a:p>
          <a:p>
            <a:pPr marL="285750" indent="-285750" algn="l">
              <a:buFont typeface="Wingdings" panose="05000000000000000000" pitchFamily="2" charset="2"/>
              <a:buChar char="q"/>
            </a:pPr>
            <a:r>
              <a:rPr lang="en-US" dirty="0"/>
              <a:t>The based-on statement should incorporate regulatory (WAC, RCW) language to show how that facility failed to meet the law.</a:t>
            </a:r>
          </a:p>
          <a:p>
            <a:endParaRPr lang="en-US" dirty="0"/>
          </a:p>
        </p:txBody>
      </p:sp>
    </p:spTree>
    <p:extLst>
      <p:ext uri="{BB962C8B-B14F-4D97-AF65-F5344CB8AC3E}">
        <p14:creationId xmlns:p14="http://schemas.microsoft.com/office/powerpoint/2010/main" val="234459859"/>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8DF5E9A-5780-E496-5ACB-EF16EC2F4C16}"/>
              </a:ext>
            </a:extLst>
          </p:cNvPr>
          <p:cNvSpPr>
            <a:spLocks noGrp="1"/>
          </p:cNvSpPr>
          <p:nvPr>
            <p:ph type="title"/>
          </p:nvPr>
        </p:nvSpPr>
        <p:spPr/>
        <p:txBody>
          <a:bodyPr/>
          <a:lstStyle/>
          <a:p>
            <a:r>
              <a:rPr lang="en-US" dirty="0"/>
              <a:t>BASED ON STATEMENT EXAMPLE</a:t>
            </a:r>
          </a:p>
        </p:txBody>
      </p:sp>
      <p:sp>
        <p:nvSpPr>
          <p:cNvPr id="6" name="Text Placeholder 5">
            <a:extLst>
              <a:ext uri="{FF2B5EF4-FFF2-40B4-BE49-F238E27FC236}">
                <a16:creationId xmlns:a16="http://schemas.microsoft.com/office/drawing/2014/main" id="{EBA0D511-B87A-816C-A78C-69A833BE893D}"/>
              </a:ext>
            </a:extLst>
          </p:cNvPr>
          <p:cNvSpPr>
            <a:spLocks noGrp="1"/>
          </p:cNvSpPr>
          <p:nvPr>
            <p:ph type="body" idx="1"/>
          </p:nvPr>
        </p:nvSpPr>
        <p:spPr/>
        <p:txBody>
          <a:bodyPr/>
          <a:lstStyle/>
          <a:p>
            <a:endParaRPr lang="en-US" dirty="0"/>
          </a:p>
        </p:txBody>
      </p:sp>
      <p:sp>
        <p:nvSpPr>
          <p:cNvPr id="7" name="Text Placeholder 6">
            <a:extLst>
              <a:ext uri="{FF2B5EF4-FFF2-40B4-BE49-F238E27FC236}">
                <a16:creationId xmlns:a16="http://schemas.microsoft.com/office/drawing/2014/main" id="{F4D7138A-1B4B-F8B4-6C43-9B03747EC664}"/>
              </a:ext>
            </a:extLst>
          </p:cNvPr>
          <p:cNvSpPr>
            <a:spLocks noGrp="1"/>
          </p:cNvSpPr>
          <p:nvPr>
            <p:ph type="body" sz="quarter" idx="3"/>
          </p:nvPr>
        </p:nvSpPr>
        <p:spPr/>
        <p:txBody>
          <a:bodyPr/>
          <a:lstStyle/>
          <a:p>
            <a:endParaRPr lang="en-US"/>
          </a:p>
        </p:txBody>
      </p:sp>
      <p:graphicFrame>
        <p:nvGraphicFramePr>
          <p:cNvPr id="10" name="Content Placeholder 9">
            <a:extLst>
              <a:ext uri="{FF2B5EF4-FFF2-40B4-BE49-F238E27FC236}">
                <a16:creationId xmlns:a16="http://schemas.microsoft.com/office/drawing/2014/main" id="{CA94B255-E25B-1F1C-9148-8E4D3805DD9B}"/>
              </a:ext>
            </a:extLst>
          </p:cNvPr>
          <p:cNvGraphicFramePr>
            <a:graphicFrameLocks noGrp="1"/>
          </p:cNvGraphicFramePr>
          <p:nvPr>
            <p:ph sz="quarter" idx="13"/>
            <p:extLst>
              <p:ext uri="{D42A27DB-BD31-4B8C-83A1-F6EECF244321}">
                <p14:modId xmlns:p14="http://schemas.microsoft.com/office/powerpoint/2010/main" val="3638817011"/>
              </p:ext>
            </p:extLst>
          </p:nvPr>
        </p:nvGraphicFramePr>
        <p:xfrm>
          <a:off x="914400" y="1686757"/>
          <a:ext cx="5105400" cy="4829541"/>
        </p:xfrm>
        <a:graphic>
          <a:graphicData uri="http://schemas.openxmlformats.org/drawingml/2006/table">
            <a:tbl>
              <a:tblPr>
                <a:tableStyleId>{5C22544A-7EE6-4342-B048-85BDC9FD1C3A}</a:tableStyleId>
              </a:tblPr>
              <a:tblGrid>
                <a:gridCol w="5105400">
                  <a:extLst>
                    <a:ext uri="{9D8B030D-6E8A-4147-A177-3AD203B41FA5}">
                      <a16:colId xmlns:a16="http://schemas.microsoft.com/office/drawing/2014/main" val="293925368"/>
                    </a:ext>
                  </a:extLst>
                </a:gridCol>
              </a:tblGrid>
              <a:tr h="4829541">
                <a:tc>
                  <a:txBody>
                    <a:bodyPr/>
                    <a:lstStyle/>
                    <a:p>
                      <a:pPr marL="0" marR="0" algn="l">
                        <a:spcBef>
                          <a:spcPts val="375"/>
                        </a:spcBef>
                        <a:spcAft>
                          <a:spcPts val="750"/>
                        </a:spcAft>
                      </a:pPr>
                      <a:r>
                        <a:rPr lang="en-US" sz="1600" dirty="0">
                          <a:effectLst/>
                          <a:latin typeface="Times New Roman" panose="02020603050405020304" pitchFamily="18" charset="0"/>
                          <a:cs typeface="Times New Roman" panose="02020603050405020304" pitchFamily="18" charset="0"/>
                        </a:rPr>
                        <a:t>WAC 246-341-0600(1) Clinical—Individual rights. (1) Each agency licensed by the department to provide any behavioral health service </a:t>
                      </a:r>
                      <a:r>
                        <a:rPr lang="en-US" sz="1600" dirty="0">
                          <a:effectLst/>
                          <a:highlight>
                            <a:srgbClr val="00FFFF"/>
                          </a:highlight>
                          <a:latin typeface="Times New Roman" panose="02020603050405020304" pitchFamily="18" charset="0"/>
                          <a:cs typeface="Times New Roman" panose="02020603050405020304" pitchFamily="18" charset="0"/>
                        </a:rPr>
                        <a:t>must develop a statement of individual participant rights </a:t>
                      </a:r>
                      <a:r>
                        <a:rPr lang="en-US" sz="1600" dirty="0">
                          <a:effectLst/>
                          <a:latin typeface="Times New Roman" panose="02020603050405020304" pitchFamily="18" charset="0"/>
                          <a:cs typeface="Times New Roman" panose="02020603050405020304" pitchFamily="18" charset="0"/>
                        </a:rPr>
                        <a:t>applicable to the service categories the agency is licensed for, to ensure an </a:t>
                      </a:r>
                      <a:r>
                        <a:rPr lang="en-US" sz="1600" dirty="0">
                          <a:effectLst/>
                          <a:highlight>
                            <a:srgbClr val="FF00FF"/>
                          </a:highlight>
                          <a:latin typeface="Times New Roman" panose="02020603050405020304" pitchFamily="18" charset="0"/>
                          <a:cs typeface="Times New Roman" panose="02020603050405020304" pitchFamily="18" charset="0"/>
                        </a:rPr>
                        <a:t>individual’s rights are protected </a:t>
                      </a:r>
                      <a:r>
                        <a:rPr lang="en-US" sz="1600" dirty="0">
                          <a:effectLst/>
                          <a:latin typeface="Times New Roman" panose="02020603050405020304" pitchFamily="18" charset="0"/>
                          <a:cs typeface="Times New Roman" panose="02020603050405020304" pitchFamily="18" charset="0"/>
                        </a:rPr>
                        <a:t>in compliance with chapters 71.05, 71.12, and 71.34 RCW. In addition, the agency must develop a general statement of individual participant rights that incorporates at a minimum the following statements. “</a:t>
                      </a:r>
                      <a:r>
                        <a:rPr lang="en-US" sz="1600" dirty="0">
                          <a:effectLst/>
                          <a:highlight>
                            <a:srgbClr val="FFFF00"/>
                          </a:highlight>
                          <a:latin typeface="Times New Roman" panose="02020603050405020304" pitchFamily="18" charset="0"/>
                          <a:cs typeface="Times New Roman" panose="02020603050405020304" pitchFamily="18" charset="0"/>
                        </a:rPr>
                        <a:t>You have a right to:” (d) Be treated with respect, dignity </a:t>
                      </a:r>
                      <a:r>
                        <a:rPr lang="en-US" sz="1600" dirty="0">
                          <a:effectLst/>
                          <a:latin typeface="Times New Roman" panose="02020603050405020304" pitchFamily="18" charset="0"/>
                          <a:cs typeface="Times New Roman" panose="02020603050405020304" pitchFamily="18" charset="0"/>
                        </a:rPr>
                        <a:t>and privacy, except that staff may conduct reasonable searches to detect and prevent possession or use of contraband on the premises; (e) </a:t>
                      </a:r>
                      <a:r>
                        <a:rPr lang="en-US" sz="1600" dirty="0">
                          <a:effectLst/>
                          <a:highlight>
                            <a:srgbClr val="00FF00"/>
                          </a:highlight>
                          <a:latin typeface="Times New Roman" panose="02020603050405020304" pitchFamily="18" charset="0"/>
                          <a:cs typeface="Times New Roman" panose="02020603050405020304" pitchFamily="18" charset="0"/>
                        </a:rPr>
                        <a:t>Be free of any sexual harassment</a:t>
                      </a:r>
                      <a:r>
                        <a:rPr lang="en-US" sz="1600" dirty="0">
                          <a:effectLst/>
                          <a:latin typeface="Times New Roman" panose="02020603050405020304" pitchFamily="18" charset="0"/>
                          <a:cs typeface="Times New Roman" panose="02020603050405020304" pitchFamily="18" charset="0"/>
                        </a:rPr>
                        <a:t>…(2)Each agency must ensure the applicable individual participant rights described in subsection (1) of this section are: (a) </a:t>
                      </a:r>
                      <a:r>
                        <a:rPr lang="en-US" sz="1600" dirty="0">
                          <a:effectLst/>
                          <a:highlight>
                            <a:srgbClr val="C0C0C0"/>
                          </a:highlight>
                          <a:latin typeface="Times New Roman" panose="02020603050405020304" pitchFamily="18" charset="0"/>
                          <a:cs typeface="Times New Roman" panose="02020603050405020304" pitchFamily="18" charset="0"/>
                        </a:rPr>
                        <a:t>Provided in writing </a:t>
                      </a:r>
                      <a:r>
                        <a:rPr lang="en-US" sz="1600" dirty="0">
                          <a:effectLst/>
                          <a:latin typeface="Times New Roman" panose="02020603050405020304" pitchFamily="18" charset="0"/>
                          <a:cs typeface="Times New Roman" panose="02020603050405020304" pitchFamily="18" charset="0"/>
                        </a:rPr>
                        <a:t>to each individual on or before admission…(d) </a:t>
                      </a:r>
                      <a:r>
                        <a:rPr lang="en-US" sz="1600" dirty="0">
                          <a:effectLst/>
                          <a:highlight>
                            <a:srgbClr val="C0C0C0"/>
                          </a:highlight>
                          <a:latin typeface="Times New Roman" panose="02020603050405020304" pitchFamily="18" charset="0"/>
                          <a:cs typeface="Times New Roman" panose="02020603050405020304" pitchFamily="18" charset="0"/>
                        </a:rPr>
                        <a:t>Posted in public areas</a:t>
                      </a:r>
                      <a:r>
                        <a:rPr lang="en-US" sz="1600" dirty="0">
                          <a:effectLst/>
                          <a:latin typeface="Times New Roman" panose="02020603050405020304" pitchFamily="18" charset="0"/>
                          <a:cs typeface="Times New Roman" panose="02020603050405020304" pitchFamily="18" charset="0"/>
                        </a:rPr>
                        <a:t>.</a:t>
                      </a:r>
                      <a:endParaRPr lang="en-US" sz="1600" b="1" dirty="0">
                        <a:effectLst/>
                        <a:latin typeface="Times New Roman" panose="02020603050405020304" pitchFamily="18" charset="0"/>
                        <a:cs typeface="Times New Roman" panose="02020603050405020304" pitchFamily="18" charset="0"/>
                      </a:endParaRPr>
                    </a:p>
                  </a:txBody>
                  <a:tcPr marL="56310" marR="56310" marT="0" marB="0"/>
                </a:tc>
                <a:extLst>
                  <a:ext uri="{0D108BD9-81ED-4DB2-BD59-A6C34878D82A}">
                    <a16:rowId xmlns:a16="http://schemas.microsoft.com/office/drawing/2014/main" val="2887865407"/>
                  </a:ext>
                </a:extLst>
              </a:tr>
            </a:tbl>
          </a:graphicData>
        </a:graphic>
      </p:graphicFrame>
      <p:graphicFrame>
        <p:nvGraphicFramePr>
          <p:cNvPr id="11" name="Content Placeholder 10">
            <a:extLst>
              <a:ext uri="{FF2B5EF4-FFF2-40B4-BE49-F238E27FC236}">
                <a16:creationId xmlns:a16="http://schemas.microsoft.com/office/drawing/2014/main" id="{ECDBD5A8-0E72-13A6-E80C-3E26FE5A6810}"/>
              </a:ext>
            </a:extLst>
          </p:cNvPr>
          <p:cNvGraphicFramePr>
            <a:graphicFrameLocks noGrp="1"/>
          </p:cNvGraphicFramePr>
          <p:nvPr>
            <p:ph sz="quarter" idx="14"/>
            <p:extLst>
              <p:ext uri="{D42A27DB-BD31-4B8C-83A1-F6EECF244321}">
                <p14:modId xmlns:p14="http://schemas.microsoft.com/office/powerpoint/2010/main" val="2916402600"/>
              </p:ext>
            </p:extLst>
          </p:nvPr>
        </p:nvGraphicFramePr>
        <p:xfrm>
          <a:off x="6172200" y="1686757"/>
          <a:ext cx="5105400" cy="4829541"/>
        </p:xfrm>
        <a:graphic>
          <a:graphicData uri="http://schemas.openxmlformats.org/drawingml/2006/table">
            <a:tbl>
              <a:tblPr>
                <a:tableStyleId>{5C22544A-7EE6-4342-B048-85BDC9FD1C3A}</a:tableStyleId>
              </a:tblPr>
              <a:tblGrid>
                <a:gridCol w="5105400">
                  <a:extLst>
                    <a:ext uri="{9D8B030D-6E8A-4147-A177-3AD203B41FA5}">
                      <a16:colId xmlns:a16="http://schemas.microsoft.com/office/drawing/2014/main" val="3469692561"/>
                    </a:ext>
                  </a:extLst>
                </a:gridCol>
              </a:tblGrid>
              <a:tr h="4829541">
                <a:tc>
                  <a:txBody>
                    <a:bodyPr/>
                    <a:lstStyle/>
                    <a:p>
                      <a:pPr marL="0" marR="0" algn="l">
                        <a:spcBef>
                          <a:spcPts val="0"/>
                        </a:spcBef>
                        <a:spcAft>
                          <a:spcPts val="0"/>
                        </a:spcAft>
                      </a:pPr>
                      <a:r>
                        <a:rPr lang="en-US" sz="1800" dirty="0">
                          <a:effectLst/>
                          <a:latin typeface="Times New Roman" panose="02020603050405020304" pitchFamily="18" charset="0"/>
                          <a:cs typeface="Times New Roman" panose="02020603050405020304" pitchFamily="18" charset="0"/>
                        </a:rPr>
                        <a:t>Based on observation, interview, and document review, the agency </a:t>
                      </a:r>
                      <a:r>
                        <a:rPr lang="en-US" sz="1800" dirty="0">
                          <a:effectLst/>
                          <a:highlight>
                            <a:srgbClr val="00FFFF"/>
                          </a:highlight>
                          <a:latin typeface="Times New Roman" panose="02020603050405020304" pitchFamily="18" charset="0"/>
                          <a:cs typeface="Times New Roman" panose="02020603050405020304" pitchFamily="18" charset="0"/>
                        </a:rPr>
                        <a:t>failed to develop a statement of individual participant rights </a:t>
                      </a:r>
                      <a:r>
                        <a:rPr lang="en-US" sz="1800" dirty="0">
                          <a:effectLst/>
                          <a:latin typeface="Times New Roman" panose="02020603050405020304" pitchFamily="18" charset="0"/>
                          <a:cs typeface="Times New Roman" panose="02020603050405020304" pitchFamily="18" charset="0"/>
                        </a:rPr>
                        <a:t>that included language notifying patients they have a right to </a:t>
                      </a:r>
                      <a:r>
                        <a:rPr lang="en-US" sz="1800" dirty="0">
                          <a:effectLst/>
                          <a:highlight>
                            <a:srgbClr val="00FF00"/>
                          </a:highlight>
                          <a:latin typeface="Times New Roman" panose="02020603050405020304" pitchFamily="18" charset="0"/>
                          <a:cs typeface="Times New Roman" panose="02020603050405020304" pitchFamily="18" charset="0"/>
                        </a:rPr>
                        <a:t>be free from any sexual harassment.</a:t>
                      </a:r>
                      <a:r>
                        <a:rPr lang="en-US" sz="1800" dirty="0">
                          <a:effectLst/>
                          <a:latin typeface="Times New Roman" panose="02020603050405020304" pitchFamily="18" charset="0"/>
                          <a:cs typeface="Times New Roman" panose="02020603050405020304" pitchFamily="18" charset="0"/>
                        </a:rPr>
                        <a:t> In addition, by failing to provide </a:t>
                      </a:r>
                      <a:r>
                        <a:rPr lang="en-US" sz="1800" dirty="0">
                          <a:effectLst/>
                          <a:highlight>
                            <a:srgbClr val="C0C0C0"/>
                          </a:highlight>
                          <a:latin typeface="Times New Roman" panose="02020603050405020304" pitchFamily="18" charset="0"/>
                          <a:cs typeface="Times New Roman" panose="02020603050405020304" pitchFamily="18" charset="0"/>
                        </a:rPr>
                        <a:t>posted and written notice </a:t>
                      </a:r>
                      <a:r>
                        <a:rPr lang="en-US" sz="1800" dirty="0">
                          <a:effectLst/>
                          <a:latin typeface="Times New Roman" panose="02020603050405020304" pitchFamily="18" charset="0"/>
                          <a:cs typeface="Times New Roman" panose="02020603050405020304" pitchFamily="18" charset="0"/>
                        </a:rPr>
                        <a:t>of </a:t>
                      </a:r>
                      <a:r>
                        <a:rPr lang="en-US" sz="1800" dirty="0">
                          <a:effectLst/>
                          <a:highlight>
                            <a:srgbClr val="00FF00"/>
                          </a:highlight>
                          <a:latin typeface="Times New Roman" panose="02020603050405020304" pitchFamily="18" charset="0"/>
                          <a:cs typeface="Times New Roman" panose="02020603050405020304" pitchFamily="18" charset="0"/>
                        </a:rPr>
                        <a:t>a right to be free from sexual harassment</a:t>
                      </a:r>
                      <a:r>
                        <a:rPr lang="en-US" sz="1800" dirty="0">
                          <a:effectLst/>
                          <a:latin typeface="Times New Roman" panose="02020603050405020304" pitchFamily="18" charset="0"/>
                          <a:cs typeface="Times New Roman" panose="02020603050405020304" pitchFamily="18" charset="0"/>
                        </a:rPr>
                        <a:t>, the agency failed to provide an environment that </a:t>
                      </a:r>
                      <a:r>
                        <a:rPr lang="en-US" sz="1800" dirty="0">
                          <a:effectLst/>
                          <a:highlight>
                            <a:srgbClr val="FF00FF"/>
                          </a:highlight>
                          <a:latin typeface="Times New Roman" panose="02020603050405020304" pitchFamily="18" charset="0"/>
                          <a:cs typeface="Times New Roman" panose="02020603050405020304" pitchFamily="18" charset="0"/>
                        </a:rPr>
                        <a:t>protected each patient’s right </a:t>
                      </a:r>
                      <a:r>
                        <a:rPr lang="en-US" sz="1800" dirty="0">
                          <a:effectLst/>
                          <a:latin typeface="Times New Roman" panose="02020603050405020304" pitchFamily="18" charset="0"/>
                          <a:cs typeface="Times New Roman" panose="02020603050405020304" pitchFamily="18" charset="0"/>
                        </a:rPr>
                        <a:t>to be </a:t>
                      </a:r>
                      <a:r>
                        <a:rPr lang="en-US" sz="1800" dirty="0">
                          <a:effectLst/>
                          <a:highlight>
                            <a:srgbClr val="FFFF00"/>
                          </a:highlight>
                          <a:latin typeface="Times New Roman" panose="02020603050405020304" pitchFamily="18" charset="0"/>
                          <a:cs typeface="Times New Roman" panose="02020603050405020304" pitchFamily="18" charset="0"/>
                        </a:rPr>
                        <a:t>respected and treated with dignity</a:t>
                      </a:r>
                      <a:r>
                        <a:rPr lang="en-US" sz="1800" dirty="0">
                          <a:effectLst/>
                          <a:latin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6310" marR="56310" marT="0" marB="0"/>
                </a:tc>
                <a:extLst>
                  <a:ext uri="{0D108BD9-81ED-4DB2-BD59-A6C34878D82A}">
                    <a16:rowId xmlns:a16="http://schemas.microsoft.com/office/drawing/2014/main" val="4266589279"/>
                  </a:ext>
                </a:extLst>
              </a:tr>
            </a:tbl>
          </a:graphicData>
        </a:graphic>
      </p:graphicFrame>
    </p:spTree>
    <p:extLst>
      <p:ext uri="{BB962C8B-B14F-4D97-AF65-F5344CB8AC3E}">
        <p14:creationId xmlns:p14="http://schemas.microsoft.com/office/powerpoint/2010/main" val="1748972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6470" y="609600"/>
            <a:ext cx="3935688" cy="1034710"/>
          </a:xfrm>
        </p:spPr>
        <p:txBody>
          <a:bodyPr>
            <a:normAutofit fontScale="90000"/>
          </a:bodyPr>
          <a:lstStyle/>
          <a:p>
            <a:r>
              <a:rPr lang="en-US" dirty="0"/>
              <a:t>Outcome statement (failure to statement)</a:t>
            </a:r>
          </a:p>
        </p:txBody>
      </p:sp>
      <p:pic>
        <p:nvPicPr>
          <p:cNvPr id="5" name="Content Placeholder 4"/>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6903224" y="1757527"/>
            <a:ext cx="4151956" cy="3075516"/>
          </a:xfrm>
        </p:spPr>
      </p:pic>
      <p:sp>
        <p:nvSpPr>
          <p:cNvPr id="4" name="Text Placeholder 3"/>
          <p:cNvSpPr>
            <a:spLocks noGrp="1"/>
          </p:cNvSpPr>
          <p:nvPr>
            <p:ph type="body" sz="half" idx="2"/>
          </p:nvPr>
        </p:nvSpPr>
        <p:spPr>
          <a:xfrm>
            <a:off x="913774" y="1644310"/>
            <a:ext cx="5281080" cy="4146890"/>
          </a:xfrm>
        </p:spPr>
        <p:txBody>
          <a:bodyPr/>
          <a:lstStyle/>
          <a:p>
            <a:pPr marL="285750" indent="-285750" algn="l">
              <a:buFont typeface="Wingdings" panose="05000000000000000000" pitchFamily="2" charset="2"/>
              <a:buChar char="q"/>
            </a:pPr>
            <a:r>
              <a:rPr lang="en-US" dirty="0"/>
              <a:t>The outcome or “failure to” statement needs to provide the reader an example of the risks posed to clients, patients or residents if the failed practice is left uncorrected.</a:t>
            </a:r>
          </a:p>
          <a:p>
            <a:pPr marL="285750" indent="-285750" algn="l">
              <a:buFont typeface="Wingdings" panose="05000000000000000000" pitchFamily="2" charset="2"/>
              <a:buChar char="q"/>
            </a:pPr>
            <a:r>
              <a:rPr lang="en-US" dirty="0"/>
              <a:t>It may be appropriate to include staff, visitors, or the public in the statement (e.g., communicable disease issues or environmental safety concerns).</a:t>
            </a:r>
          </a:p>
          <a:p>
            <a:pPr marL="285750" indent="-285750" algn="l">
              <a:buFont typeface="Wingdings" panose="05000000000000000000" pitchFamily="2" charset="2"/>
              <a:buChar char="q"/>
            </a:pPr>
            <a:r>
              <a:rPr lang="en-US" dirty="0"/>
              <a:t>The Failure to statement needs to be individualized to the specific deficiency. </a:t>
            </a:r>
          </a:p>
        </p:txBody>
      </p:sp>
    </p:spTree>
    <p:extLst>
      <p:ext uri="{BB962C8B-B14F-4D97-AF65-F5344CB8AC3E}">
        <p14:creationId xmlns:p14="http://schemas.microsoft.com/office/powerpoint/2010/main" val="366371739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8DF5E9A-5780-E496-5ACB-EF16EC2F4C16}"/>
              </a:ext>
            </a:extLst>
          </p:cNvPr>
          <p:cNvSpPr>
            <a:spLocks noGrp="1"/>
          </p:cNvSpPr>
          <p:nvPr>
            <p:ph type="title"/>
          </p:nvPr>
        </p:nvSpPr>
        <p:spPr/>
        <p:txBody>
          <a:bodyPr/>
          <a:lstStyle/>
          <a:p>
            <a:r>
              <a:rPr lang="en-US" dirty="0"/>
              <a:t>failure to STATEMENT EXAMPLE</a:t>
            </a:r>
          </a:p>
        </p:txBody>
      </p:sp>
      <p:sp>
        <p:nvSpPr>
          <p:cNvPr id="6" name="Text Placeholder 5">
            <a:extLst>
              <a:ext uri="{FF2B5EF4-FFF2-40B4-BE49-F238E27FC236}">
                <a16:creationId xmlns:a16="http://schemas.microsoft.com/office/drawing/2014/main" id="{EBA0D511-B87A-816C-A78C-69A833BE893D}"/>
              </a:ext>
            </a:extLst>
          </p:cNvPr>
          <p:cNvSpPr>
            <a:spLocks noGrp="1"/>
          </p:cNvSpPr>
          <p:nvPr>
            <p:ph type="body" idx="1"/>
          </p:nvPr>
        </p:nvSpPr>
        <p:spPr/>
        <p:txBody>
          <a:bodyPr/>
          <a:lstStyle/>
          <a:p>
            <a:endParaRPr lang="en-US" dirty="0"/>
          </a:p>
        </p:txBody>
      </p:sp>
      <p:sp>
        <p:nvSpPr>
          <p:cNvPr id="7" name="Text Placeholder 6">
            <a:extLst>
              <a:ext uri="{FF2B5EF4-FFF2-40B4-BE49-F238E27FC236}">
                <a16:creationId xmlns:a16="http://schemas.microsoft.com/office/drawing/2014/main" id="{F4D7138A-1B4B-F8B4-6C43-9B03747EC664}"/>
              </a:ext>
            </a:extLst>
          </p:cNvPr>
          <p:cNvSpPr>
            <a:spLocks noGrp="1"/>
          </p:cNvSpPr>
          <p:nvPr>
            <p:ph type="body" sz="quarter" idx="3"/>
          </p:nvPr>
        </p:nvSpPr>
        <p:spPr/>
        <p:txBody>
          <a:bodyPr/>
          <a:lstStyle/>
          <a:p>
            <a:endParaRPr lang="en-US"/>
          </a:p>
        </p:txBody>
      </p:sp>
      <p:graphicFrame>
        <p:nvGraphicFramePr>
          <p:cNvPr id="10" name="Content Placeholder 9">
            <a:extLst>
              <a:ext uri="{FF2B5EF4-FFF2-40B4-BE49-F238E27FC236}">
                <a16:creationId xmlns:a16="http://schemas.microsoft.com/office/drawing/2014/main" id="{CA94B255-E25B-1F1C-9148-8E4D3805DD9B}"/>
              </a:ext>
            </a:extLst>
          </p:cNvPr>
          <p:cNvGraphicFramePr>
            <a:graphicFrameLocks noGrp="1"/>
          </p:cNvGraphicFramePr>
          <p:nvPr>
            <p:ph sz="quarter" idx="13"/>
            <p:extLst>
              <p:ext uri="{D42A27DB-BD31-4B8C-83A1-F6EECF244321}">
                <p14:modId xmlns:p14="http://schemas.microsoft.com/office/powerpoint/2010/main" val="2534194075"/>
              </p:ext>
            </p:extLst>
          </p:nvPr>
        </p:nvGraphicFramePr>
        <p:xfrm>
          <a:off x="914400" y="1686757"/>
          <a:ext cx="5105400" cy="4829541"/>
        </p:xfrm>
        <a:graphic>
          <a:graphicData uri="http://schemas.openxmlformats.org/drawingml/2006/table">
            <a:tbl>
              <a:tblPr>
                <a:tableStyleId>{5C22544A-7EE6-4342-B048-85BDC9FD1C3A}</a:tableStyleId>
              </a:tblPr>
              <a:tblGrid>
                <a:gridCol w="5105400">
                  <a:extLst>
                    <a:ext uri="{9D8B030D-6E8A-4147-A177-3AD203B41FA5}">
                      <a16:colId xmlns:a16="http://schemas.microsoft.com/office/drawing/2014/main" val="293925368"/>
                    </a:ext>
                  </a:extLst>
                </a:gridCol>
              </a:tblGrid>
              <a:tr h="4829541">
                <a:tc>
                  <a:txBody>
                    <a:bodyPr/>
                    <a:lstStyle/>
                    <a:p>
                      <a:pPr marL="0" marR="0" algn="l">
                        <a:spcBef>
                          <a:spcPts val="0"/>
                        </a:spcBef>
                        <a:spcAft>
                          <a:spcPts val="0"/>
                        </a:spcAft>
                      </a:pPr>
                      <a:r>
                        <a:rPr lang="en-US" sz="1800" dirty="0">
                          <a:effectLst/>
                          <a:latin typeface="Times New Roman" panose="02020603050405020304" pitchFamily="18" charset="0"/>
                          <a:cs typeface="Times New Roman" panose="02020603050405020304" pitchFamily="18" charset="0"/>
                        </a:rPr>
                        <a:t>Based on observation, interview, and document review, the agency </a:t>
                      </a:r>
                      <a:r>
                        <a:rPr lang="en-US" sz="1800" dirty="0">
                          <a:effectLst/>
                          <a:highlight>
                            <a:srgbClr val="FFFF00"/>
                          </a:highlight>
                          <a:latin typeface="Times New Roman" panose="02020603050405020304" pitchFamily="18" charset="0"/>
                          <a:cs typeface="Times New Roman" panose="02020603050405020304" pitchFamily="18" charset="0"/>
                        </a:rPr>
                        <a:t>failed to develop a statement of individual participant rights that included language notifying patients they have a right to be free from any sexual harassment</a:t>
                      </a:r>
                      <a:r>
                        <a:rPr lang="en-US" sz="1800" dirty="0">
                          <a:effectLst/>
                          <a:latin typeface="Times New Roman" panose="02020603050405020304" pitchFamily="18" charset="0"/>
                          <a:cs typeface="Times New Roman" panose="02020603050405020304" pitchFamily="18" charset="0"/>
                        </a:rPr>
                        <a:t>. In addition, by </a:t>
                      </a:r>
                      <a:r>
                        <a:rPr lang="en-US" sz="1800" dirty="0">
                          <a:effectLst/>
                          <a:highlight>
                            <a:srgbClr val="FFFF00"/>
                          </a:highlight>
                          <a:latin typeface="Times New Roman" panose="02020603050405020304" pitchFamily="18" charset="0"/>
                          <a:cs typeface="Times New Roman" panose="02020603050405020304" pitchFamily="18" charset="0"/>
                        </a:rPr>
                        <a:t>failing to provide posted and written notice </a:t>
                      </a:r>
                      <a:r>
                        <a:rPr lang="en-US" sz="1800" dirty="0">
                          <a:effectLst/>
                          <a:latin typeface="Times New Roman" panose="02020603050405020304" pitchFamily="18" charset="0"/>
                          <a:cs typeface="Times New Roman" panose="02020603050405020304" pitchFamily="18" charset="0"/>
                        </a:rPr>
                        <a:t>of a right to be free from sexual harassment, the agency failed to provide an environment that protected each patient’s right to be respected and treated with dignity.</a:t>
                      </a:r>
                    </a:p>
                    <a:p>
                      <a:pPr marL="0" marR="0" algn="l">
                        <a:spcBef>
                          <a:spcPts val="0"/>
                        </a:spcBef>
                        <a:spcAft>
                          <a:spcPts val="0"/>
                        </a:spcAft>
                      </a:pPr>
                      <a:endParaRPr lang="en-US" sz="1800" dirty="0">
                        <a:effectLst/>
                        <a:latin typeface="Times New Roman" panose="02020603050405020304" pitchFamily="18" charset="0"/>
                        <a:cs typeface="Times New Roman" panose="02020603050405020304" pitchFamily="18" charset="0"/>
                      </a:endParaRPr>
                    </a:p>
                    <a:p>
                      <a:pPr marL="0" marR="0" algn="l">
                        <a:spcBef>
                          <a:spcPts val="0"/>
                        </a:spcBef>
                        <a:spcAft>
                          <a:spcPts val="0"/>
                        </a:spcAft>
                      </a:pPr>
                      <a:endParaRPr lang="en-US" sz="1800" dirty="0">
                        <a:effectLst/>
                        <a:latin typeface="Times New Roman" panose="02020603050405020304" pitchFamily="18" charset="0"/>
                        <a:cs typeface="Times New Roman" panose="02020603050405020304" pitchFamily="18" charset="0"/>
                      </a:endParaRPr>
                    </a:p>
                    <a:p>
                      <a:pPr marL="0" marR="0" algn="l">
                        <a:spcBef>
                          <a:spcPts val="0"/>
                        </a:spcBef>
                        <a:spcAft>
                          <a:spcPts val="0"/>
                        </a:spcAft>
                      </a:pPr>
                      <a:endParaRPr lang="en-US" sz="1800" dirty="0">
                        <a:effectLst/>
                        <a:latin typeface="Times New Roman" panose="02020603050405020304" pitchFamily="18" charset="0"/>
                        <a:cs typeface="Times New Roman" panose="02020603050405020304" pitchFamily="18" charset="0"/>
                      </a:endParaRPr>
                    </a:p>
                    <a:p>
                      <a:pPr marL="0" marR="0" algn="l">
                        <a:spcBef>
                          <a:spcPts val="0"/>
                        </a:spcBef>
                        <a:spcAft>
                          <a:spcPts val="0"/>
                        </a:spcAft>
                      </a:pPr>
                      <a:r>
                        <a:rPr lang="en-US" sz="1800" dirty="0">
                          <a:effectLst/>
                          <a:highlight>
                            <a:srgbClr val="FFFF00"/>
                          </a:highlight>
                          <a:latin typeface="Times New Roman" panose="02020603050405020304" pitchFamily="18" charset="0"/>
                          <a:cs typeface="Times New Roman" panose="02020603050405020304" pitchFamily="18" charset="0"/>
                        </a:rPr>
                        <a:t>Yellow</a:t>
                      </a:r>
                      <a:r>
                        <a:rPr lang="en-US" sz="1800" dirty="0">
                          <a:effectLst/>
                          <a:latin typeface="Times New Roman" panose="02020603050405020304" pitchFamily="18" charset="0"/>
                          <a:cs typeface="Times New Roman" panose="02020603050405020304" pitchFamily="18" charset="0"/>
                        </a:rPr>
                        <a:t> – Represents the connections between the based-on statement and the failure to statement.  </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6310" marR="56310" marT="0" marB="0"/>
                </a:tc>
                <a:extLst>
                  <a:ext uri="{0D108BD9-81ED-4DB2-BD59-A6C34878D82A}">
                    <a16:rowId xmlns:a16="http://schemas.microsoft.com/office/drawing/2014/main" val="2887865407"/>
                  </a:ext>
                </a:extLst>
              </a:tr>
            </a:tbl>
          </a:graphicData>
        </a:graphic>
      </p:graphicFrame>
      <p:graphicFrame>
        <p:nvGraphicFramePr>
          <p:cNvPr id="11" name="Content Placeholder 10">
            <a:extLst>
              <a:ext uri="{FF2B5EF4-FFF2-40B4-BE49-F238E27FC236}">
                <a16:creationId xmlns:a16="http://schemas.microsoft.com/office/drawing/2014/main" id="{ECDBD5A8-0E72-13A6-E80C-3E26FE5A6810}"/>
              </a:ext>
            </a:extLst>
          </p:cNvPr>
          <p:cNvGraphicFramePr>
            <a:graphicFrameLocks noGrp="1"/>
          </p:cNvGraphicFramePr>
          <p:nvPr>
            <p:ph sz="quarter" idx="14"/>
            <p:extLst>
              <p:ext uri="{D42A27DB-BD31-4B8C-83A1-F6EECF244321}">
                <p14:modId xmlns:p14="http://schemas.microsoft.com/office/powerpoint/2010/main" val="2045733116"/>
              </p:ext>
            </p:extLst>
          </p:nvPr>
        </p:nvGraphicFramePr>
        <p:xfrm>
          <a:off x="6172200" y="1686757"/>
          <a:ext cx="5105400" cy="4829541"/>
        </p:xfrm>
        <a:graphic>
          <a:graphicData uri="http://schemas.openxmlformats.org/drawingml/2006/table">
            <a:tbl>
              <a:tblPr>
                <a:tableStyleId>{5C22544A-7EE6-4342-B048-85BDC9FD1C3A}</a:tableStyleId>
              </a:tblPr>
              <a:tblGrid>
                <a:gridCol w="5105400">
                  <a:extLst>
                    <a:ext uri="{9D8B030D-6E8A-4147-A177-3AD203B41FA5}">
                      <a16:colId xmlns:a16="http://schemas.microsoft.com/office/drawing/2014/main" val="3469692561"/>
                    </a:ext>
                  </a:extLst>
                </a:gridCol>
              </a:tblGrid>
              <a:tr h="4829541">
                <a:tc>
                  <a:txBody>
                    <a:bodyPr/>
                    <a:lstStyle/>
                    <a:p>
                      <a:pPr marL="0" marR="0" algn="l">
                        <a:spcBef>
                          <a:spcPts val="0"/>
                        </a:spcBef>
                        <a:spcAft>
                          <a:spcPts val="0"/>
                        </a:spcAft>
                      </a:pPr>
                      <a:r>
                        <a:rPr lang="en-US" sz="1800" dirty="0">
                          <a:effectLst/>
                          <a:highlight>
                            <a:srgbClr val="FFFF00"/>
                          </a:highlight>
                          <a:latin typeface="Times New Roman" panose="02020603050405020304" pitchFamily="18" charset="0"/>
                          <a:ea typeface="Times New Roman" panose="02020603050405020304" pitchFamily="18" charset="0"/>
                          <a:cs typeface="Times New Roman" panose="02020603050405020304" pitchFamily="18" charset="0"/>
                        </a:rPr>
                        <a:t>Failure to develop and post a statement of individual participant rights that includes language notifying patients they have a right to be free from any sexual harassment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highlight>
                            <a:srgbClr val="00FFFF"/>
                          </a:highlight>
                          <a:latin typeface="Times New Roman" panose="02020603050405020304" pitchFamily="18" charset="0"/>
                          <a:ea typeface="Times New Roman" panose="02020603050405020304" pitchFamily="18" charset="0"/>
                          <a:cs typeface="Times New Roman" panose="02020603050405020304" pitchFamily="18" charset="0"/>
                        </a:rPr>
                        <a:t>places patients at risk for harm related to misunderstanding their individual rights which may result in an inability to respond to events, including sexual harassment, in a manner that maintains patient dignity and feeling of respect. It also impedes the agency’s ability to create an environment where all patients are treated with dignity and respect.</a:t>
                      </a:r>
                    </a:p>
                    <a:p>
                      <a:pPr marL="0" marR="0" algn="l">
                        <a:spcBef>
                          <a:spcPts val="0"/>
                        </a:spcBef>
                        <a:spcAft>
                          <a:spcPts val="0"/>
                        </a:spcAft>
                      </a:pPr>
                      <a:endParaRPr lang="en-US" sz="1800" dirty="0">
                        <a:effectLst/>
                        <a:highlight>
                          <a:srgbClr val="00FFFF"/>
                        </a:highlight>
                        <a:latin typeface="Times New Roman" panose="02020603050405020304" pitchFamily="18" charset="0"/>
                        <a:ea typeface="Times New Roman" panose="02020603050405020304" pitchFamily="18" charset="0"/>
                        <a:cs typeface="Times New Roman" panose="02020603050405020304" pitchFamily="18" charset="0"/>
                      </a:endParaRPr>
                    </a:p>
                    <a:p>
                      <a:pPr marL="0" marR="0" algn="l">
                        <a:spcBef>
                          <a:spcPts val="0"/>
                        </a:spcBef>
                        <a:spcAft>
                          <a:spcPts val="0"/>
                        </a:spcAft>
                      </a:pPr>
                      <a:endParaRPr lang="en-US" sz="1800" dirty="0">
                        <a:effectLst/>
                        <a:highlight>
                          <a:srgbClr val="00FFFF"/>
                        </a:highlight>
                        <a:latin typeface="Times New Roman" panose="02020603050405020304" pitchFamily="18" charset="0"/>
                        <a:ea typeface="Times New Roman" panose="02020603050405020304" pitchFamily="18" charset="0"/>
                        <a:cs typeface="Times New Roman" panose="02020603050405020304" pitchFamily="18" charset="0"/>
                      </a:endParaRPr>
                    </a:p>
                    <a:p>
                      <a:pPr marL="0" marR="0" algn="l">
                        <a:spcBef>
                          <a:spcPts val="0"/>
                        </a:spcBef>
                        <a:spcAft>
                          <a:spcPts val="0"/>
                        </a:spcAft>
                      </a:pPr>
                      <a:r>
                        <a:rPr lang="en-US" sz="1800" dirty="0">
                          <a:effectLst/>
                          <a:highlight>
                            <a:srgbClr val="00FFFF"/>
                          </a:highlight>
                          <a:latin typeface="Times New Roman" panose="02020603050405020304" pitchFamily="18" charset="0"/>
                          <a:ea typeface="Times New Roman" panose="02020603050405020304" pitchFamily="18" charset="0"/>
                          <a:cs typeface="Times New Roman" panose="02020603050405020304" pitchFamily="18" charset="0"/>
                        </a:rPr>
                        <a:t>Teal</a:t>
                      </a:r>
                      <a:r>
                        <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 Represents the actual risk to patients based on the deficiency.  </a:t>
                      </a:r>
                    </a:p>
                  </a:txBody>
                  <a:tcPr marL="114300" marR="114300" marT="0" marB="0"/>
                </a:tc>
                <a:extLst>
                  <a:ext uri="{0D108BD9-81ED-4DB2-BD59-A6C34878D82A}">
                    <a16:rowId xmlns:a16="http://schemas.microsoft.com/office/drawing/2014/main" val="4266589279"/>
                  </a:ext>
                </a:extLst>
              </a:tr>
            </a:tbl>
          </a:graphicData>
        </a:graphic>
      </p:graphicFrame>
    </p:spTree>
    <p:extLst>
      <p:ext uri="{BB962C8B-B14F-4D97-AF65-F5344CB8AC3E}">
        <p14:creationId xmlns:p14="http://schemas.microsoft.com/office/powerpoint/2010/main" val="12380346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59098" y="1005017"/>
            <a:ext cx="3935688" cy="845240"/>
          </a:xfrm>
        </p:spPr>
        <p:txBody>
          <a:bodyPr/>
          <a:lstStyle/>
          <a:p>
            <a:r>
              <a:rPr lang="en-US" dirty="0"/>
              <a:t>References</a:t>
            </a:r>
          </a:p>
        </p:txBody>
      </p:sp>
      <p:pic>
        <p:nvPicPr>
          <p:cNvPr id="5" name="Content Placeholder 4" descr="Three neatly stacked books"/>
          <p:cNvPicPr>
            <a:picLocks noGrp="1" noChangeAspect="1"/>
          </p:cNvPicPr>
          <p:nvPr>
            <p:ph sz="quarter" idx="13"/>
          </p:nvPr>
        </p:nvPicPr>
        <p:blipFill>
          <a:blip r:embed="rId2"/>
          <a:srcRect/>
          <a:stretch/>
        </p:blipFill>
        <p:spPr>
          <a:xfrm>
            <a:off x="1425146" y="1977081"/>
            <a:ext cx="3707027" cy="3069449"/>
          </a:xfrm>
        </p:spPr>
      </p:pic>
      <p:sp>
        <p:nvSpPr>
          <p:cNvPr id="4" name="Text Placeholder 3"/>
          <p:cNvSpPr>
            <a:spLocks noGrp="1"/>
          </p:cNvSpPr>
          <p:nvPr>
            <p:ph type="body" sz="half" idx="2"/>
          </p:nvPr>
        </p:nvSpPr>
        <p:spPr>
          <a:xfrm>
            <a:off x="5859098" y="1977081"/>
            <a:ext cx="3935689" cy="3591696"/>
          </a:xfrm>
        </p:spPr>
        <p:txBody>
          <a:bodyPr/>
          <a:lstStyle/>
          <a:p>
            <a:pPr marL="285750" indent="-285750" algn="l">
              <a:buFont typeface="Wingdings" panose="05000000000000000000" pitchFamily="2" charset="2"/>
              <a:buChar char="q"/>
            </a:pPr>
            <a:r>
              <a:rPr lang="en-US" dirty="0"/>
              <a:t>Rules and practice standards should go above the “findings included” using the word “reference” followed by the standard. </a:t>
            </a:r>
          </a:p>
          <a:p>
            <a:pPr marL="285750" indent="-285750" algn="l">
              <a:buFont typeface="Wingdings" panose="05000000000000000000" pitchFamily="2" charset="2"/>
              <a:buChar char="q"/>
            </a:pPr>
            <a:r>
              <a:rPr lang="en-US" dirty="0"/>
              <a:t>Common reference sources may be ASAM, the DSM-5, and the CDC and should be documented in the statement of deficiency report as a reference.  </a:t>
            </a:r>
          </a:p>
        </p:txBody>
      </p:sp>
    </p:spTree>
    <p:extLst>
      <p:ext uri="{BB962C8B-B14F-4D97-AF65-F5344CB8AC3E}">
        <p14:creationId xmlns:p14="http://schemas.microsoft.com/office/powerpoint/2010/main" val="3332275302"/>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172581-D972-4117-664D-DA2C24BA4B17}"/>
              </a:ext>
            </a:extLst>
          </p:cNvPr>
          <p:cNvSpPr>
            <a:spLocks noGrp="1"/>
          </p:cNvSpPr>
          <p:nvPr>
            <p:ph type="title"/>
          </p:nvPr>
        </p:nvSpPr>
        <p:spPr>
          <a:xfrm>
            <a:off x="913774" y="609599"/>
            <a:ext cx="10364452" cy="952501"/>
          </a:xfrm>
        </p:spPr>
        <p:txBody>
          <a:bodyPr/>
          <a:lstStyle/>
          <a:p>
            <a:r>
              <a:rPr lang="en-US" dirty="0"/>
              <a:t>Reference example</a:t>
            </a:r>
          </a:p>
        </p:txBody>
      </p:sp>
      <p:sp>
        <p:nvSpPr>
          <p:cNvPr id="6" name="Text Placeholder 5">
            <a:extLst>
              <a:ext uri="{FF2B5EF4-FFF2-40B4-BE49-F238E27FC236}">
                <a16:creationId xmlns:a16="http://schemas.microsoft.com/office/drawing/2014/main" id="{2470B95B-9355-2C18-87DD-DD9AACEEABBD}"/>
              </a:ext>
            </a:extLst>
          </p:cNvPr>
          <p:cNvSpPr>
            <a:spLocks noGrp="1"/>
          </p:cNvSpPr>
          <p:nvPr>
            <p:ph type="body" sz="half" idx="2"/>
          </p:nvPr>
        </p:nvSpPr>
        <p:spPr>
          <a:xfrm>
            <a:off x="913775" y="1447800"/>
            <a:ext cx="10364452" cy="4343401"/>
          </a:xfrm>
        </p:spPr>
        <p:txBody>
          <a:bodyPr>
            <a:normAutofit fontScale="85000" lnSpcReduction="20000"/>
          </a:bodyPr>
          <a:lstStyle/>
          <a:p>
            <a:pPr marL="457200" marR="0" algn="l">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rPr>
              <a:t>Based on </a:t>
            </a:r>
            <a:r>
              <a:rPr lang="en-US" sz="1800" dirty="0">
                <a:solidFill>
                  <a:srgbClr val="000000"/>
                </a:solidFill>
                <a:effectLst/>
                <a:latin typeface="Arial" panose="020B0604020202020204" pitchFamily="34" charset="0"/>
                <a:ea typeface="Times New Roman" panose="02020603050405020304" pitchFamily="18" charset="0"/>
              </a:rPr>
              <a:t>record review and interview, the agency failed to ensure that progress notes reflected each client’s response to treatment and any changes in the treatment plan in accordance with </a:t>
            </a:r>
            <a:r>
              <a:rPr lang="en-US" sz="1800" b="1" dirty="0">
                <a:solidFill>
                  <a:srgbClr val="000000"/>
                </a:solidFill>
                <a:effectLst/>
                <a:latin typeface="Arial" panose="020B0604020202020204" pitchFamily="34" charset="0"/>
                <a:ea typeface="Times New Roman" panose="02020603050405020304" pitchFamily="18" charset="0"/>
              </a:rPr>
              <a:t>ASAM criteria </a:t>
            </a:r>
            <a:r>
              <a:rPr lang="en-US" sz="1800" dirty="0">
                <a:solidFill>
                  <a:srgbClr val="000000"/>
                </a:solidFill>
                <a:effectLst/>
                <a:latin typeface="Arial" panose="020B0604020202020204" pitchFamily="34" charset="0"/>
                <a:ea typeface="Times New Roman" panose="02020603050405020304" pitchFamily="18" charset="0"/>
              </a:rPr>
              <a:t>for 7 of 10 patients reviewed (Patients #1, #2, #4, #5, #6, #7, and #10).</a:t>
            </a:r>
          </a:p>
          <a:p>
            <a:pPr marL="457200" marR="0" algn="l">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 </a:t>
            </a:r>
          </a:p>
          <a:p>
            <a:pPr marL="457200" marR="0" algn="l">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rPr>
              <a:t>Failure to </a:t>
            </a:r>
            <a:r>
              <a:rPr lang="en-US" sz="1800" dirty="0">
                <a:solidFill>
                  <a:srgbClr val="000000"/>
                </a:solidFill>
                <a:effectLst/>
                <a:latin typeface="Arial" panose="020B0604020202020204" pitchFamily="34" charset="0"/>
                <a:ea typeface="Times New Roman" panose="02020603050405020304" pitchFamily="18" charset="0"/>
              </a:rPr>
              <a:t>ensure that all patients’ progress notes reflect their response to treatment and amending the individual service plans as necessary can result in ineffective treatment that can lead to patient relapse. </a:t>
            </a:r>
          </a:p>
          <a:p>
            <a:pPr marL="457200" marR="0" algn="l">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 </a:t>
            </a:r>
          </a:p>
          <a:p>
            <a:pPr marL="457200" marR="0" algn="l">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rPr>
              <a:t>Reference: </a:t>
            </a:r>
            <a:r>
              <a:rPr lang="en-US" sz="1800" dirty="0">
                <a:solidFill>
                  <a:srgbClr val="000000"/>
                </a:solidFill>
                <a:effectLst/>
                <a:latin typeface="Arial" panose="020B0604020202020204" pitchFamily="34" charset="0"/>
                <a:ea typeface="Times New Roman" panose="02020603050405020304" pitchFamily="18" charset="0"/>
              </a:rPr>
              <a:t>Mee-Lee D, Shulman GD, Fishman MJ, Gastfriend DR, Miller MM, eds. </a:t>
            </a:r>
            <a:r>
              <a:rPr lang="en-US" sz="1800" b="1" dirty="0">
                <a:solidFill>
                  <a:srgbClr val="000000"/>
                </a:solidFill>
                <a:effectLst/>
                <a:latin typeface="Arial" panose="020B0604020202020204" pitchFamily="34" charset="0"/>
                <a:ea typeface="Times New Roman" panose="02020603050405020304" pitchFamily="18" charset="0"/>
              </a:rPr>
              <a:t>The ASAM Criteria</a:t>
            </a:r>
            <a:r>
              <a:rPr lang="en-US" sz="1800" dirty="0">
                <a:solidFill>
                  <a:srgbClr val="000000"/>
                </a:solidFill>
                <a:effectLst/>
                <a:latin typeface="Arial" panose="020B0604020202020204" pitchFamily="34" charset="0"/>
                <a:ea typeface="Times New Roman" panose="02020603050405020304" pitchFamily="18" charset="0"/>
              </a:rPr>
              <a:t> for Addictive, Substance-Related, and Co-Occurring Conditions. 3</a:t>
            </a:r>
            <a:r>
              <a:rPr lang="en-US" sz="1800" baseline="30000" dirty="0">
                <a:solidFill>
                  <a:srgbClr val="000000"/>
                </a:solidFill>
                <a:effectLst/>
                <a:latin typeface="Arial" panose="020B0604020202020204" pitchFamily="34" charset="0"/>
                <a:ea typeface="Times New Roman" panose="02020603050405020304" pitchFamily="18" charset="0"/>
              </a:rPr>
              <a:t>rd</a:t>
            </a:r>
            <a:r>
              <a:rPr lang="en-US" sz="1800" dirty="0">
                <a:solidFill>
                  <a:srgbClr val="000000"/>
                </a:solidFill>
                <a:effectLst/>
                <a:latin typeface="Arial" panose="020B0604020202020204" pitchFamily="34" charset="0"/>
                <a:ea typeface="Times New Roman" panose="02020603050405020304" pitchFamily="18" charset="0"/>
              </a:rPr>
              <a:t> ed. Carson City, NV: The Change Companies; 2013."Documentation standards of level 3.7 WM programs include progress notes in the patient record that clearly reflect implementation of the treatment plan and the patient’s response to treatment, as well as subsequent amendments to the plan.” </a:t>
            </a:r>
          </a:p>
          <a:p>
            <a:pPr marL="0" marR="0" algn="l">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 </a:t>
            </a:r>
          </a:p>
          <a:p>
            <a:pPr marL="0" marR="0" indent="457200" algn="l">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rPr>
              <a:t>Findings included:</a:t>
            </a:r>
          </a:p>
          <a:p>
            <a:endParaRPr lang="en-US" dirty="0"/>
          </a:p>
        </p:txBody>
      </p:sp>
    </p:spTree>
    <p:extLst>
      <p:ext uri="{BB962C8B-B14F-4D97-AF65-F5344CB8AC3E}">
        <p14:creationId xmlns:p14="http://schemas.microsoft.com/office/powerpoint/2010/main" val="2509298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24459" y="211807"/>
            <a:ext cx="4925298" cy="1136822"/>
          </a:xfrm>
        </p:spPr>
        <p:txBody>
          <a:bodyPr/>
          <a:lstStyle/>
          <a:p>
            <a:r>
              <a:rPr lang="en-US" dirty="0"/>
              <a:t>Findings</a:t>
            </a:r>
          </a:p>
        </p:txBody>
      </p:sp>
      <p:sp>
        <p:nvSpPr>
          <p:cNvPr id="3" name="Text Placeholder 2"/>
          <p:cNvSpPr>
            <a:spLocks noGrp="1"/>
          </p:cNvSpPr>
          <p:nvPr>
            <p:ph type="body" idx="1"/>
          </p:nvPr>
        </p:nvSpPr>
        <p:spPr>
          <a:xfrm>
            <a:off x="913774" y="1285297"/>
            <a:ext cx="3298976" cy="576262"/>
          </a:xfrm>
        </p:spPr>
        <p:txBody>
          <a:bodyPr/>
          <a:lstStyle/>
          <a:p>
            <a:r>
              <a:rPr lang="en-US" sz="2000" dirty="0"/>
              <a:t>General Requirements</a:t>
            </a:r>
          </a:p>
        </p:txBody>
      </p:sp>
      <p:sp>
        <p:nvSpPr>
          <p:cNvPr id="4" name="Text Placeholder 3"/>
          <p:cNvSpPr>
            <a:spLocks noGrp="1"/>
          </p:cNvSpPr>
          <p:nvPr>
            <p:ph type="body" sz="half" idx="15"/>
          </p:nvPr>
        </p:nvSpPr>
        <p:spPr>
          <a:xfrm>
            <a:off x="913774" y="2026509"/>
            <a:ext cx="3298976" cy="3764691"/>
          </a:xfrm>
        </p:spPr>
        <p:txBody>
          <a:bodyPr/>
          <a:lstStyle/>
          <a:p>
            <a:pPr marL="285750" indent="-285750" algn="l">
              <a:buFont typeface="Wingdings" panose="05000000000000000000" pitchFamily="2" charset="2"/>
              <a:buChar char="q"/>
            </a:pPr>
            <a:r>
              <a:rPr lang="en-US" dirty="0"/>
              <a:t>All findings should be left justified. There should not be any indentations. </a:t>
            </a:r>
          </a:p>
          <a:p>
            <a:pPr marL="285750" indent="-285750" algn="l">
              <a:buFont typeface="Wingdings" panose="05000000000000000000" pitchFamily="2" charset="2"/>
              <a:buChar char="q"/>
            </a:pPr>
            <a:r>
              <a:rPr lang="en-US" dirty="0"/>
              <a:t>Each citation needs to start with the words: “Findings included:”.</a:t>
            </a:r>
          </a:p>
        </p:txBody>
      </p:sp>
      <p:sp>
        <p:nvSpPr>
          <p:cNvPr id="5" name="Text Placeholder 4"/>
          <p:cNvSpPr>
            <a:spLocks noGrp="1"/>
          </p:cNvSpPr>
          <p:nvPr>
            <p:ph type="body" sz="quarter" idx="3"/>
          </p:nvPr>
        </p:nvSpPr>
        <p:spPr>
          <a:xfrm>
            <a:off x="4441348" y="1312844"/>
            <a:ext cx="3291521" cy="576262"/>
          </a:xfrm>
        </p:spPr>
        <p:txBody>
          <a:bodyPr/>
          <a:lstStyle/>
          <a:p>
            <a:r>
              <a:rPr lang="en-US" sz="2000" dirty="0"/>
              <a:t>Multiple areas of deficient practice</a:t>
            </a:r>
          </a:p>
        </p:txBody>
      </p:sp>
      <p:sp>
        <p:nvSpPr>
          <p:cNvPr id="6" name="Text Placeholder 5"/>
          <p:cNvSpPr>
            <a:spLocks noGrp="1"/>
          </p:cNvSpPr>
          <p:nvPr>
            <p:ph type="body" sz="half" idx="16"/>
          </p:nvPr>
        </p:nvSpPr>
        <p:spPr>
          <a:xfrm>
            <a:off x="4441348" y="2026509"/>
            <a:ext cx="3303351" cy="4094205"/>
          </a:xfrm>
        </p:spPr>
        <p:txBody>
          <a:bodyPr/>
          <a:lstStyle/>
          <a:p>
            <a:pPr marL="342900" indent="-342900" algn="l">
              <a:buFont typeface="Wingdings" panose="05000000000000000000" pitchFamily="2" charset="2"/>
              <a:buChar char="q"/>
            </a:pPr>
            <a:r>
              <a:rPr lang="en-US" dirty="0"/>
              <a:t>When a WAC lists more than one requirement, the reviewer/investigator may split the findings into different items. </a:t>
            </a:r>
          </a:p>
          <a:p>
            <a:pPr marL="342900" indent="-342900" algn="l">
              <a:buFont typeface="Wingdings" panose="05000000000000000000" pitchFamily="2" charset="2"/>
              <a:buChar char="q"/>
            </a:pPr>
            <a:r>
              <a:rPr lang="en-US" dirty="0"/>
              <a:t>Each item should be written as “Item #1, Item #2”, etc. with a short statement summarizing the deficiency. </a:t>
            </a:r>
          </a:p>
          <a:p>
            <a:pPr algn="l"/>
            <a:endParaRPr lang="en-US" dirty="0"/>
          </a:p>
        </p:txBody>
      </p:sp>
      <p:sp>
        <p:nvSpPr>
          <p:cNvPr id="7" name="Text Placeholder 6"/>
          <p:cNvSpPr>
            <a:spLocks noGrp="1"/>
          </p:cNvSpPr>
          <p:nvPr>
            <p:ph type="body" sz="quarter" idx="13"/>
          </p:nvPr>
        </p:nvSpPr>
        <p:spPr>
          <a:xfrm>
            <a:off x="7961467" y="1348629"/>
            <a:ext cx="3304928" cy="576262"/>
          </a:xfrm>
        </p:spPr>
        <p:txBody>
          <a:bodyPr/>
          <a:lstStyle/>
          <a:p>
            <a:r>
              <a:rPr lang="en-US" sz="2000" dirty="0"/>
              <a:t>Numbering</a:t>
            </a:r>
          </a:p>
        </p:txBody>
      </p:sp>
      <p:sp>
        <p:nvSpPr>
          <p:cNvPr id="8" name="Text Placeholder 7"/>
          <p:cNvSpPr>
            <a:spLocks noGrp="1"/>
          </p:cNvSpPr>
          <p:nvPr>
            <p:ph type="body" sz="half" idx="17"/>
          </p:nvPr>
        </p:nvSpPr>
        <p:spPr>
          <a:xfrm>
            <a:off x="7973298" y="2026509"/>
            <a:ext cx="3304928" cy="3764692"/>
          </a:xfrm>
        </p:spPr>
        <p:txBody>
          <a:bodyPr/>
          <a:lstStyle/>
          <a:p>
            <a:pPr marL="285750" indent="-285750" algn="l">
              <a:buFont typeface="Wingdings" panose="05000000000000000000" pitchFamily="2" charset="2"/>
              <a:buChar char="q"/>
            </a:pPr>
            <a:r>
              <a:rPr lang="en-US" dirty="0"/>
              <a:t>Number each finding starting with “1.” (if you only have one finding under “findings included:” you do not need to number it). </a:t>
            </a:r>
          </a:p>
          <a:p>
            <a:pPr marL="285750" indent="-285750" algn="l">
              <a:buFont typeface="Wingdings" panose="05000000000000000000" pitchFamily="2" charset="2"/>
              <a:buChar char="q"/>
            </a:pPr>
            <a:r>
              <a:rPr lang="en-US" dirty="0"/>
              <a:t>If there are subsections to the findings, list those with a lower case </a:t>
            </a:r>
            <a:r>
              <a:rPr lang="en-US" cap="none" dirty="0"/>
              <a:t>“a.” </a:t>
            </a:r>
            <a:r>
              <a:rPr lang="en-US" dirty="0"/>
              <a:t>if there are additional subdivisions, begin those with (1).</a:t>
            </a:r>
          </a:p>
          <a:p>
            <a:pPr marL="285750" indent="-285750" algn="l">
              <a:buFont typeface="Wingdings" panose="05000000000000000000" pitchFamily="2" charset="2"/>
              <a:buChar char="q"/>
            </a:pPr>
            <a:r>
              <a:rPr lang="en-US" dirty="0"/>
              <a:t>Add spaces between citations and subsections to improve readability. </a:t>
            </a:r>
          </a:p>
        </p:txBody>
      </p:sp>
    </p:spTree>
    <p:extLst>
      <p:ext uri="{BB962C8B-B14F-4D97-AF65-F5344CB8AC3E}">
        <p14:creationId xmlns:p14="http://schemas.microsoft.com/office/powerpoint/2010/main" val="362502255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7C84A-D64C-BBC0-1027-FCA9C56369F5}"/>
              </a:ext>
            </a:extLst>
          </p:cNvPr>
          <p:cNvSpPr>
            <a:spLocks noGrp="1"/>
          </p:cNvSpPr>
          <p:nvPr>
            <p:ph type="title"/>
          </p:nvPr>
        </p:nvSpPr>
        <p:spPr>
          <a:xfrm>
            <a:off x="2490904" y="392337"/>
            <a:ext cx="7450050" cy="555620"/>
          </a:xfrm>
        </p:spPr>
        <p:txBody>
          <a:bodyPr>
            <a:normAutofit/>
          </a:bodyPr>
          <a:lstStyle/>
          <a:p>
            <a:r>
              <a:rPr lang="en-US" sz="3200" dirty="0"/>
              <a:t>Findings Example</a:t>
            </a:r>
          </a:p>
        </p:txBody>
      </p:sp>
      <p:sp>
        <p:nvSpPr>
          <p:cNvPr id="3" name="Text Placeholder 2">
            <a:extLst>
              <a:ext uri="{FF2B5EF4-FFF2-40B4-BE49-F238E27FC236}">
                <a16:creationId xmlns:a16="http://schemas.microsoft.com/office/drawing/2014/main" id="{05BC1B72-11BA-B8CD-3C19-A07E9E3DCA07}"/>
              </a:ext>
            </a:extLst>
          </p:cNvPr>
          <p:cNvSpPr>
            <a:spLocks noGrp="1"/>
          </p:cNvSpPr>
          <p:nvPr>
            <p:ph type="body" idx="1"/>
          </p:nvPr>
        </p:nvSpPr>
        <p:spPr>
          <a:xfrm>
            <a:off x="920124" y="1298046"/>
            <a:ext cx="10351752" cy="5167618"/>
          </a:xfrm>
        </p:spPr>
        <p:txBody>
          <a:bodyPr>
            <a:normAutofit fontScale="32500" lnSpcReduction="20000"/>
          </a:bodyPr>
          <a:lstStyle/>
          <a:p>
            <a:pPr marL="0" marR="0" algn="l">
              <a:spcBef>
                <a:spcPts val="0"/>
              </a:spcBef>
              <a:spcAft>
                <a:spcPts val="0"/>
              </a:spcAft>
            </a:pPr>
            <a:r>
              <a:rPr lang="en-US" sz="3200" b="1" dirty="0">
                <a:solidFill>
                  <a:schemeClr val="tx1"/>
                </a:solidFill>
                <a:effectLst/>
                <a:latin typeface="Calibri" panose="020F0502020204030204" pitchFamily="34" charset="0"/>
                <a:cs typeface="Calibri" panose="020F0502020204030204" pitchFamily="34" charset="0"/>
              </a:rPr>
              <a:t>Findings included:</a:t>
            </a:r>
          </a:p>
          <a:p>
            <a:pPr marL="0" marR="0" algn="l">
              <a:spcBef>
                <a:spcPts val="0"/>
              </a:spcBef>
              <a:spcAft>
                <a:spcPts val="0"/>
              </a:spcAft>
            </a:pPr>
            <a:endParaRPr lang="en-US" sz="3200" b="1" dirty="0">
              <a:solidFill>
                <a:schemeClr val="tx1"/>
              </a:solidFill>
              <a:effectLst/>
              <a:highlight>
                <a:srgbClr val="FFFF00"/>
              </a:highlight>
              <a:latin typeface="Calibri" panose="020F0502020204030204" pitchFamily="34" charset="0"/>
              <a:cs typeface="Calibri" panose="020F0502020204030204" pitchFamily="34" charset="0"/>
            </a:endParaRPr>
          </a:p>
          <a:p>
            <a:pPr algn="l">
              <a:spcBef>
                <a:spcPts val="0"/>
              </a:spcBef>
            </a:pPr>
            <a:r>
              <a:rPr lang="en-US" sz="3200" b="1" dirty="0">
                <a:solidFill>
                  <a:schemeClr val="tx1"/>
                </a:solidFill>
                <a:effectLst/>
                <a:highlight>
                  <a:srgbClr val="FFFF00"/>
                </a:highlight>
                <a:latin typeface="Calibri" panose="020F0502020204030204" pitchFamily="34" charset="0"/>
                <a:cs typeface="Calibri" panose="020F0502020204030204" pitchFamily="34" charset="0"/>
              </a:rPr>
              <a:t>1.</a:t>
            </a:r>
            <a:r>
              <a:rPr lang="en-US" sz="3200" b="1" dirty="0">
                <a:solidFill>
                  <a:schemeClr val="tx1"/>
                </a:solidFill>
                <a:effectLst/>
                <a:latin typeface="Calibri" panose="020F0502020204030204" pitchFamily="34" charset="0"/>
                <a:cs typeface="Calibri" panose="020F0502020204030204" pitchFamily="34" charset="0"/>
              </a:rPr>
              <a:t> </a:t>
            </a:r>
            <a:r>
              <a:rPr lang="en-US" sz="3200" b="1" cap="none" dirty="0">
                <a:solidFill>
                  <a:schemeClr val="tx1"/>
                </a:solidFill>
                <a:effectLst/>
                <a:latin typeface="Calibri" panose="020F0502020204030204" pitchFamily="34" charset="0"/>
                <a:cs typeface="Calibri" panose="020F0502020204030204" pitchFamily="34" charset="0"/>
              </a:rPr>
              <a:t>Review of agency policy titled, “Sexual </a:t>
            </a:r>
            <a:r>
              <a:rPr lang="en-US" sz="3200" b="1" cap="none" dirty="0">
                <a:solidFill>
                  <a:schemeClr val="tx1"/>
                </a:solidFill>
                <a:latin typeface="Calibri" panose="020F0502020204030204" pitchFamily="34" charset="0"/>
                <a:cs typeface="Calibri" panose="020F0502020204030204" pitchFamily="34" charset="0"/>
              </a:rPr>
              <a:t>A</a:t>
            </a:r>
            <a:r>
              <a:rPr lang="en-US" sz="3200" b="1" cap="none" dirty="0">
                <a:solidFill>
                  <a:schemeClr val="tx1"/>
                </a:solidFill>
                <a:effectLst/>
                <a:latin typeface="Calibri" panose="020F0502020204030204" pitchFamily="34" charset="0"/>
                <a:cs typeface="Calibri" panose="020F0502020204030204" pitchFamily="34" charset="0"/>
              </a:rPr>
              <a:t>ggression/</a:t>
            </a:r>
            <a:r>
              <a:rPr lang="en-US" sz="3200" b="1" cap="none" dirty="0">
                <a:solidFill>
                  <a:schemeClr val="tx1"/>
                </a:solidFill>
                <a:latin typeface="Calibri" panose="020F0502020204030204" pitchFamily="34" charset="0"/>
                <a:cs typeface="Calibri" panose="020F0502020204030204" pitchFamily="34" charset="0"/>
              </a:rPr>
              <a:t>V</a:t>
            </a:r>
            <a:r>
              <a:rPr lang="en-US" sz="3200" b="1" cap="none" dirty="0">
                <a:solidFill>
                  <a:schemeClr val="tx1"/>
                </a:solidFill>
                <a:effectLst/>
                <a:latin typeface="Calibri" panose="020F0502020204030204" pitchFamily="34" charset="0"/>
                <a:cs typeface="Calibri" panose="020F0502020204030204" pitchFamily="34" charset="0"/>
              </a:rPr>
              <a:t>ictimization </a:t>
            </a:r>
            <a:r>
              <a:rPr lang="en-US" sz="3200" b="1" cap="none" dirty="0">
                <a:solidFill>
                  <a:schemeClr val="tx1"/>
                </a:solidFill>
                <a:latin typeface="Calibri" panose="020F0502020204030204" pitchFamily="34" charset="0"/>
                <a:cs typeface="Calibri" panose="020F0502020204030204" pitchFamily="34" charset="0"/>
              </a:rPr>
              <a:t>P</a:t>
            </a:r>
            <a:r>
              <a:rPr lang="en-US" sz="3200" b="1" cap="none" dirty="0">
                <a:solidFill>
                  <a:schemeClr val="tx1"/>
                </a:solidFill>
                <a:effectLst/>
                <a:latin typeface="Calibri" panose="020F0502020204030204" pitchFamily="34" charset="0"/>
                <a:cs typeface="Calibri" panose="020F0502020204030204" pitchFamily="34" charset="0"/>
              </a:rPr>
              <a:t>recautions,” policy number 1000.80, revised 05/2020, found it requires the agency to provide a “safe, therapeutic envir</a:t>
            </a:r>
            <a:r>
              <a:rPr lang="en-US" sz="3200" b="1" cap="none" dirty="0">
                <a:solidFill>
                  <a:schemeClr val="tx1"/>
                </a:solidFill>
                <a:latin typeface="Calibri" panose="020F0502020204030204" pitchFamily="34" charset="0"/>
                <a:cs typeface="Calibri" panose="020F0502020204030204" pitchFamily="34" charset="0"/>
              </a:rPr>
              <a:t>onment </a:t>
            </a:r>
            <a:r>
              <a:rPr lang="en-US" sz="3200" b="1" cap="none" dirty="0">
                <a:solidFill>
                  <a:schemeClr val="tx1"/>
                </a:solidFill>
                <a:effectLst/>
                <a:latin typeface="Calibri" panose="020F0502020204030204" pitchFamily="34" charset="0"/>
                <a:cs typeface="Calibri" panose="020F0502020204030204" pitchFamily="34" charset="0"/>
              </a:rPr>
              <a:t>of care which includes the prevention of patient-to-patient sexual incidents, as well as verbal/physical threats of sexual incidents.” The document directs staff to observe for patient risk factors for sexual aggression and/or victimization and to initiate precautions. The policy also requires the initiation of a sexually inappropriate behavior treatment plan when patients are identified as needing </a:t>
            </a:r>
            <a:r>
              <a:rPr lang="en-US" sz="3200" b="1" cap="none" dirty="0">
                <a:solidFill>
                  <a:schemeClr val="tx1"/>
                </a:solidFill>
                <a:effectLst/>
                <a:highlight>
                  <a:srgbClr val="00FF00"/>
                </a:highlight>
                <a:latin typeface="Calibri" panose="020F0502020204030204" pitchFamily="34" charset="0"/>
                <a:cs typeface="Calibri" panose="020F0502020204030204" pitchFamily="34" charset="0"/>
              </a:rPr>
              <a:t>sexual victimization precautions (SVP) or sexual aggression precautions (SAP). </a:t>
            </a:r>
            <a:r>
              <a:rPr lang="en-US" sz="3200" b="1" cap="none" dirty="0">
                <a:solidFill>
                  <a:schemeClr val="tx1"/>
                </a:solidFill>
                <a:effectLst/>
                <a:latin typeface="Calibri" panose="020F0502020204030204" pitchFamily="34" charset="0"/>
                <a:cs typeface="Calibri" panose="020F0502020204030204" pitchFamily="34" charset="0"/>
              </a:rPr>
              <a:t> The agency failed to follow this policy based on the following:</a:t>
            </a:r>
          </a:p>
          <a:p>
            <a:pPr marL="0" marR="0" algn="l">
              <a:spcBef>
                <a:spcPts val="0"/>
              </a:spcBef>
              <a:spcAft>
                <a:spcPts val="0"/>
              </a:spcAft>
            </a:pPr>
            <a:r>
              <a:rPr lang="en-US" sz="3200" b="1" dirty="0">
                <a:solidFill>
                  <a:schemeClr val="tx1"/>
                </a:solidFill>
                <a:effectLst/>
                <a:latin typeface="Calibri" panose="020F0502020204030204" pitchFamily="34" charset="0"/>
                <a:cs typeface="Calibri" panose="020F0502020204030204" pitchFamily="34" charset="0"/>
              </a:rPr>
              <a:t> </a:t>
            </a:r>
          </a:p>
          <a:p>
            <a:pPr marL="0" marR="0" algn="l">
              <a:spcBef>
                <a:spcPts val="0"/>
              </a:spcBef>
              <a:spcAft>
                <a:spcPts val="0"/>
              </a:spcAft>
            </a:pPr>
            <a:r>
              <a:rPr lang="en-US" sz="3200" b="1" cap="none" dirty="0">
                <a:solidFill>
                  <a:schemeClr val="tx1"/>
                </a:solidFill>
                <a:effectLst/>
                <a:highlight>
                  <a:srgbClr val="FFFF00"/>
                </a:highlight>
                <a:latin typeface="Calibri" panose="020F0502020204030204" pitchFamily="34" charset="0"/>
                <a:cs typeface="Calibri" panose="020F0502020204030204" pitchFamily="34" charset="0"/>
              </a:rPr>
              <a:t>a. </a:t>
            </a:r>
            <a:r>
              <a:rPr lang="en-US" sz="3200" b="1" cap="none" dirty="0">
                <a:solidFill>
                  <a:schemeClr val="tx1"/>
                </a:solidFill>
                <a:latin typeface="Calibri" panose="020F0502020204030204" pitchFamily="34" charset="0"/>
                <a:cs typeface="Calibri" panose="020F0502020204030204" pitchFamily="34" charset="0"/>
              </a:rPr>
              <a:t>R</a:t>
            </a:r>
            <a:r>
              <a:rPr lang="en-US" sz="3200" b="1" cap="none" dirty="0">
                <a:solidFill>
                  <a:schemeClr val="tx1"/>
                </a:solidFill>
                <a:effectLst/>
                <a:latin typeface="Calibri" panose="020F0502020204030204" pitchFamily="34" charset="0"/>
                <a:cs typeface="Calibri" panose="020F0502020204030204" pitchFamily="34" charset="0"/>
              </a:rPr>
              <a:t>eview of an agency-provided spreadsheet of sexually related allegations dated 08/02/20 through 01/11/21 found a total of 94 events listed. Though the events listed represented multiple patients involved in individual events, the data showed, of the 162 days represented in the spreadsheet, 36 days had documented patient-related sexual events (22.22% of days). In addition, of the 73 individual patients listed on the spreadsheet, 14 (19.17%) were involved in multiple incidents.</a:t>
            </a:r>
          </a:p>
          <a:p>
            <a:pPr marL="0" marR="0" algn="l">
              <a:spcBef>
                <a:spcPts val="0"/>
              </a:spcBef>
              <a:spcAft>
                <a:spcPts val="0"/>
              </a:spcAft>
            </a:pPr>
            <a:r>
              <a:rPr lang="en-US" sz="3200" b="1" cap="none" dirty="0">
                <a:solidFill>
                  <a:schemeClr val="tx1"/>
                </a:solidFill>
                <a:effectLst/>
                <a:latin typeface="Calibri" panose="020F0502020204030204" pitchFamily="34" charset="0"/>
                <a:cs typeface="Calibri" panose="020F0502020204030204" pitchFamily="34" charset="0"/>
              </a:rPr>
              <a:t> </a:t>
            </a:r>
          </a:p>
          <a:p>
            <a:pPr marL="0" marR="0" algn="l">
              <a:spcBef>
                <a:spcPts val="0"/>
              </a:spcBef>
              <a:spcAft>
                <a:spcPts val="0"/>
              </a:spcAft>
            </a:pPr>
            <a:r>
              <a:rPr lang="en-US" sz="3200" b="1" cap="none" dirty="0">
                <a:solidFill>
                  <a:schemeClr val="tx1"/>
                </a:solidFill>
                <a:effectLst/>
                <a:highlight>
                  <a:srgbClr val="FFFF00"/>
                </a:highlight>
                <a:latin typeface="Calibri" panose="020F0502020204030204" pitchFamily="34" charset="0"/>
                <a:cs typeface="Calibri" panose="020F0502020204030204" pitchFamily="34" charset="0"/>
              </a:rPr>
              <a:t>b.</a:t>
            </a:r>
            <a:r>
              <a:rPr lang="en-US" sz="3200" b="1" cap="none" dirty="0">
                <a:solidFill>
                  <a:schemeClr val="tx1"/>
                </a:solidFill>
                <a:effectLst/>
                <a:latin typeface="Calibri" panose="020F0502020204030204" pitchFamily="34" charset="0"/>
                <a:cs typeface="Calibri" panose="020F0502020204030204" pitchFamily="34" charset="0"/>
              </a:rPr>
              <a:t> Review of patient clinical records by investigator #1 found 10 of 10 records (Patients #1-#10) contained documentation that the individuals had either </a:t>
            </a:r>
            <a:r>
              <a:rPr lang="en-US" sz="3200" b="1" cap="none" dirty="0">
                <a:solidFill>
                  <a:schemeClr val="tx1"/>
                </a:solidFill>
                <a:highlight>
                  <a:srgbClr val="00FF00"/>
                </a:highlight>
                <a:latin typeface="Calibri" panose="020F0502020204030204" pitchFamily="34" charset="0"/>
                <a:cs typeface="Calibri" panose="020F0502020204030204" pitchFamily="34" charset="0"/>
              </a:rPr>
              <a:t>SVP</a:t>
            </a:r>
            <a:r>
              <a:rPr lang="en-US" sz="3200" b="1" cap="none" dirty="0">
                <a:solidFill>
                  <a:schemeClr val="tx1"/>
                </a:solidFill>
                <a:effectLst/>
                <a:highlight>
                  <a:srgbClr val="00FF00"/>
                </a:highlight>
                <a:latin typeface="Calibri" panose="020F0502020204030204" pitchFamily="34" charset="0"/>
                <a:cs typeface="Calibri" panose="020F0502020204030204" pitchFamily="34" charset="0"/>
              </a:rPr>
              <a:t> and/or SAP </a:t>
            </a:r>
            <a:r>
              <a:rPr lang="en-US" sz="3200" b="1" cap="none" dirty="0">
                <a:solidFill>
                  <a:schemeClr val="tx1"/>
                </a:solidFill>
                <a:effectLst/>
                <a:latin typeface="Calibri" panose="020F0502020204030204" pitchFamily="34" charset="0"/>
                <a:cs typeface="Calibri" panose="020F0502020204030204" pitchFamily="34" charset="0"/>
              </a:rPr>
              <a:t>on one or all of the “patient observation records” in the chart or documentation elsewhere in the record that the patient should have been placed on one or both of the precautions. Nine of the 10 records (all except Patient #6) did not contain a sexually inappropriate behavior treatment plan. During an interview on 03/30/21 at 2:00 PM, Staff </a:t>
            </a:r>
            <a:r>
              <a:rPr lang="en-US" sz="3200" b="1" cap="none" dirty="0">
                <a:solidFill>
                  <a:schemeClr val="tx1"/>
                </a:solidFill>
                <a:latin typeface="Calibri" panose="020F0502020204030204" pitchFamily="34" charset="0"/>
                <a:cs typeface="Calibri" panose="020F0502020204030204" pitchFamily="34" charset="0"/>
              </a:rPr>
              <a:t>C</a:t>
            </a:r>
            <a:r>
              <a:rPr lang="en-US" sz="3200" b="1" cap="none" dirty="0">
                <a:solidFill>
                  <a:schemeClr val="tx1"/>
                </a:solidFill>
                <a:effectLst/>
                <a:latin typeface="Calibri" panose="020F0502020204030204" pitchFamily="34" charset="0"/>
                <a:cs typeface="Calibri" panose="020F0502020204030204" pitchFamily="34" charset="0"/>
              </a:rPr>
              <a:t> confirmed the records should have included, but were missing, the treatment plans.</a:t>
            </a:r>
          </a:p>
          <a:p>
            <a:pPr marL="0" marR="0" algn="l">
              <a:spcBef>
                <a:spcPts val="0"/>
              </a:spcBef>
              <a:spcAft>
                <a:spcPts val="0"/>
              </a:spcAft>
            </a:pPr>
            <a:r>
              <a:rPr lang="en-US" sz="3200" b="1" cap="none" dirty="0">
                <a:solidFill>
                  <a:schemeClr val="tx1"/>
                </a:solidFill>
                <a:effectLst/>
                <a:latin typeface="Calibri" panose="020F0502020204030204" pitchFamily="34" charset="0"/>
                <a:cs typeface="Calibri" panose="020F0502020204030204" pitchFamily="34" charset="0"/>
              </a:rPr>
              <a:t> </a:t>
            </a:r>
          </a:p>
          <a:p>
            <a:pPr marL="0" marR="0" algn="l">
              <a:spcBef>
                <a:spcPts val="0"/>
              </a:spcBef>
              <a:spcAft>
                <a:spcPts val="0"/>
              </a:spcAft>
            </a:pPr>
            <a:r>
              <a:rPr lang="en-US" sz="3200" b="1" cap="none" dirty="0">
                <a:solidFill>
                  <a:schemeClr val="tx1"/>
                </a:solidFill>
                <a:effectLst/>
                <a:highlight>
                  <a:srgbClr val="FFFF00"/>
                </a:highlight>
                <a:latin typeface="Calibri" panose="020F0502020204030204" pitchFamily="34" charset="0"/>
                <a:cs typeface="Calibri" panose="020F0502020204030204" pitchFamily="34" charset="0"/>
              </a:rPr>
              <a:t>c.</a:t>
            </a:r>
            <a:r>
              <a:rPr lang="en-US" sz="3200" b="1" cap="none" dirty="0">
                <a:solidFill>
                  <a:schemeClr val="tx1"/>
                </a:solidFill>
                <a:effectLst/>
                <a:latin typeface="Calibri" panose="020F0502020204030204" pitchFamily="34" charset="0"/>
                <a:cs typeface="Calibri" panose="020F0502020204030204" pitchFamily="34" charset="0"/>
              </a:rPr>
              <a:t> Review of 10 patient clinical records (Patients #1-#10) by Investigator #1 found the following which were confirmed by Staff </a:t>
            </a:r>
            <a:r>
              <a:rPr lang="en-US" sz="3200" b="1" cap="none" dirty="0">
                <a:solidFill>
                  <a:schemeClr val="tx1"/>
                </a:solidFill>
                <a:latin typeface="Calibri" panose="020F0502020204030204" pitchFamily="34" charset="0"/>
                <a:cs typeface="Calibri" panose="020F0502020204030204" pitchFamily="34" charset="0"/>
              </a:rPr>
              <a:t>C</a:t>
            </a:r>
            <a:r>
              <a:rPr lang="en-US" sz="3200" b="1" cap="none" dirty="0">
                <a:solidFill>
                  <a:schemeClr val="tx1"/>
                </a:solidFill>
                <a:effectLst/>
                <a:latin typeface="Calibri" panose="020F0502020204030204" pitchFamily="34" charset="0"/>
                <a:cs typeface="Calibri" panose="020F0502020204030204" pitchFamily="34" charset="0"/>
              </a:rPr>
              <a:t> either at the time of review or during a call on 03/30/21 at 2:00 PM:</a:t>
            </a:r>
          </a:p>
          <a:p>
            <a:pPr marL="0" marR="0" algn="l">
              <a:spcBef>
                <a:spcPts val="0"/>
              </a:spcBef>
              <a:spcAft>
                <a:spcPts val="0"/>
              </a:spcAft>
            </a:pPr>
            <a:r>
              <a:rPr lang="en-US" sz="3200" b="1" cap="none" dirty="0">
                <a:solidFill>
                  <a:schemeClr val="tx1"/>
                </a:solidFill>
                <a:effectLst/>
                <a:latin typeface="Calibri" panose="020F0502020204030204" pitchFamily="34" charset="0"/>
                <a:cs typeface="Calibri" panose="020F0502020204030204" pitchFamily="34" charset="0"/>
              </a:rPr>
              <a:t> </a:t>
            </a:r>
          </a:p>
          <a:p>
            <a:pPr marL="0" marR="0" algn="l">
              <a:spcBef>
                <a:spcPts val="0"/>
              </a:spcBef>
              <a:spcAft>
                <a:spcPts val="0"/>
              </a:spcAft>
            </a:pPr>
            <a:r>
              <a:rPr lang="en-US" sz="3200" b="1" cap="none" dirty="0">
                <a:solidFill>
                  <a:schemeClr val="tx1"/>
                </a:solidFill>
                <a:effectLst/>
                <a:highlight>
                  <a:srgbClr val="FFFF00"/>
                </a:highlight>
                <a:latin typeface="Calibri" panose="020F0502020204030204" pitchFamily="34" charset="0"/>
                <a:cs typeface="Calibri" panose="020F0502020204030204" pitchFamily="34" charset="0"/>
              </a:rPr>
              <a:t>(1)</a:t>
            </a:r>
            <a:r>
              <a:rPr lang="en-US" sz="3200" b="1" cap="none" dirty="0">
                <a:solidFill>
                  <a:schemeClr val="tx1"/>
                </a:solidFill>
                <a:effectLst/>
                <a:latin typeface="Calibri" panose="020F0502020204030204" pitchFamily="34" charset="0"/>
                <a:cs typeface="Calibri" panose="020F0502020204030204" pitchFamily="34" charset="0"/>
              </a:rPr>
              <a:t> The “Initial </a:t>
            </a:r>
            <a:r>
              <a:rPr lang="en-US" sz="3200" b="1" cap="none" dirty="0">
                <a:solidFill>
                  <a:schemeClr val="tx1"/>
                </a:solidFill>
                <a:latin typeface="Calibri" panose="020F0502020204030204" pitchFamily="34" charset="0"/>
                <a:cs typeface="Calibri" panose="020F0502020204030204" pitchFamily="34" charset="0"/>
              </a:rPr>
              <a:t>N</a:t>
            </a:r>
            <a:r>
              <a:rPr lang="en-US" sz="3200" b="1" cap="none" dirty="0">
                <a:solidFill>
                  <a:schemeClr val="tx1"/>
                </a:solidFill>
                <a:effectLst/>
                <a:latin typeface="Calibri" panose="020F0502020204030204" pitchFamily="34" charset="0"/>
                <a:cs typeface="Calibri" panose="020F0502020204030204" pitchFamily="34" charset="0"/>
              </a:rPr>
              <a:t>ursing </a:t>
            </a:r>
            <a:r>
              <a:rPr lang="en-US" sz="3200" b="1" cap="none" dirty="0">
                <a:solidFill>
                  <a:schemeClr val="tx1"/>
                </a:solidFill>
                <a:latin typeface="Calibri" panose="020F0502020204030204" pitchFamily="34" charset="0"/>
                <a:cs typeface="Calibri" panose="020F0502020204030204" pitchFamily="34" charset="0"/>
              </a:rPr>
              <a:t>A</a:t>
            </a:r>
            <a:r>
              <a:rPr lang="en-US" sz="3200" b="1" cap="none" dirty="0">
                <a:solidFill>
                  <a:schemeClr val="tx1"/>
                </a:solidFill>
                <a:effectLst/>
                <a:latin typeface="Calibri" panose="020F0502020204030204" pitchFamily="34" charset="0"/>
                <a:cs typeface="Calibri" panose="020F0502020204030204" pitchFamily="34" charset="0"/>
              </a:rPr>
              <a:t>ssessment” present in all records included sexual assault and sexual victimization risk assessments. The victimization assessment directed staff to institute sexual assault precautions for patients who scored a three or higher. During an interview on 03/25/21 at 9:00 AM, </a:t>
            </a:r>
            <a:r>
              <a:rPr lang="en-US" sz="3200" b="1" cap="none" dirty="0">
                <a:solidFill>
                  <a:schemeClr val="tx1"/>
                </a:solidFill>
                <a:latin typeface="Calibri" panose="020F0502020204030204" pitchFamily="34" charset="0"/>
                <a:cs typeface="Calibri" panose="020F0502020204030204" pitchFamily="34" charset="0"/>
              </a:rPr>
              <a:t>S</a:t>
            </a:r>
            <a:r>
              <a:rPr lang="en-US" sz="3200" b="1" cap="none" dirty="0">
                <a:solidFill>
                  <a:schemeClr val="tx1"/>
                </a:solidFill>
                <a:effectLst/>
                <a:latin typeface="Calibri" panose="020F0502020204030204" pitchFamily="34" charset="0"/>
                <a:cs typeface="Calibri" panose="020F0502020204030204" pitchFamily="34" charset="0"/>
              </a:rPr>
              <a:t>taff </a:t>
            </a:r>
            <a:r>
              <a:rPr lang="en-US" sz="3200" b="1" cap="none" dirty="0">
                <a:solidFill>
                  <a:schemeClr val="tx1"/>
                </a:solidFill>
                <a:latin typeface="Calibri" panose="020F0502020204030204" pitchFamily="34" charset="0"/>
                <a:cs typeface="Calibri" panose="020F0502020204030204" pitchFamily="34" charset="0"/>
              </a:rPr>
              <a:t>C</a:t>
            </a:r>
            <a:r>
              <a:rPr lang="en-US" sz="3200" b="1" cap="none" dirty="0">
                <a:solidFill>
                  <a:schemeClr val="tx1"/>
                </a:solidFill>
                <a:effectLst/>
                <a:latin typeface="Calibri" panose="020F0502020204030204" pitchFamily="34" charset="0"/>
                <a:cs typeface="Calibri" panose="020F0502020204030204" pitchFamily="34" charset="0"/>
              </a:rPr>
              <a:t> stated there was a “typo” on the form and staff should initiate sexual victimization precautions if the patient scored a three in this section.</a:t>
            </a:r>
          </a:p>
          <a:p>
            <a:pPr marL="0" marR="0" algn="l">
              <a:spcBef>
                <a:spcPts val="0"/>
              </a:spcBef>
              <a:spcAft>
                <a:spcPts val="0"/>
              </a:spcAft>
            </a:pPr>
            <a:r>
              <a:rPr lang="en-US" sz="3200" b="1" cap="none" dirty="0">
                <a:solidFill>
                  <a:schemeClr val="tx1"/>
                </a:solidFill>
                <a:effectLst/>
                <a:latin typeface="Calibri" panose="020F0502020204030204" pitchFamily="34" charset="0"/>
                <a:cs typeface="Calibri" panose="020F0502020204030204" pitchFamily="34" charset="0"/>
              </a:rPr>
              <a:t> </a:t>
            </a:r>
          </a:p>
          <a:p>
            <a:pPr marL="0" marR="0" algn="l">
              <a:spcBef>
                <a:spcPts val="0"/>
              </a:spcBef>
              <a:spcAft>
                <a:spcPts val="0"/>
              </a:spcAft>
            </a:pPr>
            <a:r>
              <a:rPr lang="en-US" sz="3200" b="1" cap="none" dirty="0">
                <a:solidFill>
                  <a:schemeClr val="tx1"/>
                </a:solidFill>
                <a:effectLst/>
                <a:highlight>
                  <a:srgbClr val="FFFF00"/>
                </a:highlight>
                <a:latin typeface="Calibri" panose="020F0502020204030204" pitchFamily="34" charset="0"/>
                <a:cs typeface="Calibri" panose="020F0502020204030204" pitchFamily="34" charset="0"/>
              </a:rPr>
              <a:t>(2) </a:t>
            </a:r>
            <a:r>
              <a:rPr lang="en-US" sz="3200" b="1" cap="none" dirty="0">
                <a:solidFill>
                  <a:schemeClr val="tx1"/>
                </a:solidFill>
                <a:latin typeface="Calibri" panose="020F0502020204030204" pitchFamily="34" charset="0"/>
                <a:cs typeface="Calibri" panose="020F0502020204030204" pitchFamily="34" charset="0"/>
              </a:rPr>
              <a:t>T</a:t>
            </a:r>
            <a:r>
              <a:rPr lang="en-US" sz="3200" b="1" cap="none" dirty="0">
                <a:solidFill>
                  <a:schemeClr val="tx1"/>
                </a:solidFill>
                <a:effectLst/>
                <a:latin typeface="Calibri" panose="020F0502020204030204" pitchFamily="34" charset="0"/>
                <a:cs typeface="Calibri" panose="020F0502020204030204" pitchFamily="34" charset="0"/>
              </a:rPr>
              <a:t>he “Initial </a:t>
            </a:r>
            <a:r>
              <a:rPr lang="en-US" sz="3200" b="1" cap="none" dirty="0">
                <a:solidFill>
                  <a:schemeClr val="tx1"/>
                </a:solidFill>
                <a:latin typeface="Calibri" panose="020F0502020204030204" pitchFamily="34" charset="0"/>
                <a:cs typeface="Calibri" panose="020F0502020204030204" pitchFamily="34" charset="0"/>
              </a:rPr>
              <a:t>N</a:t>
            </a:r>
            <a:r>
              <a:rPr lang="en-US" sz="3200" b="1" cap="none" dirty="0">
                <a:solidFill>
                  <a:schemeClr val="tx1"/>
                </a:solidFill>
                <a:effectLst/>
                <a:latin typeface="Calibri" panose="020F0502020204030204" pitchFamily="34" charset="0"/>
                <a:cs typeface="Calibri" panose="020F0502020204030204" pitchFamily="34" charset="0"/>
              </a:rPr>
              <a:t>ursing </a:t>
            </a:r>
            <a:r>
              <a:rPr lang="en-US" sz="3200" b="1" cap="none" dirty="0">
                <a:solidFill>
                  <a:schemeClr val="tx1"/>
                </a:solidFill>
                <a:latin typeface="Calibri" panose="020F0502020204030204" pitchFamily="34" charset="0"/>
                <a:cs typeface="Calibri" panose="020F0502020204030204" pitchFamily="34" charset="0"/>
              </a:rPr>
              <a:t>A</a:t>
            </a:r>
            <a:r>
              <a:rPr lang="en-US" sz="3200" b="1" cap="none" dirty="0">
                <a:solidFill>
                  <a:schemeClr val="tx1"/>
                </a:solidFill>
                <a:effectLst/>
                <a:latin typeface="Calibri" panose="020F0502020204030204" pitchFamily="34" charset="0"/>
                <a:cs typeface="Calibri" panose="020F0502020204030204" pitchFamily="34" charset="0"/>
              </a:rPr>
              <a:t>ssessment” present in all records included “current behaviors and risks” in the sexual assault risk section. One of the boxes with a score of one point was “hostility towards females”.  There were no other options for hostility towards other gender identifiers. During an interview on 03/25/21 at 9:00 AM, </a:t>
            </a:r>
            <a:r>
              <a:rPr lang="en-US" sz="3200" b="1" cap="none" dirty="0">
                <a:solidFill>
                  <a:schemeClr val="tx1"/>
                </a:solidFill>
                <a:latin typeface="Calibri" panose="020F0502020204030204" pitchFamily="34" charset="0"/>
                <a:cs typeface="Calibri" panose="020F0502020204030204" pitchFamily="34" charset="0"/>
              </a:rPr>
              <a:t>S</a:t>
            </a:r>
            <a:r>
              <a:rPr lang="en-US" sz="3200" b="1" cap="none" dirty="0">
                <a:solidFill>
                  <a:schemeClr val="tx1"/>
                </a:solidFill>
                <a:effectLst/>
                <a:latin typeface="Calibri" panose="020F0502020204030204" pitchFamily="34" charset="0"/>
                <a:cs typeface="Calibri" panose="020F0502020204030204" pitchFamily="34" charset="0"/>
              </a:rPr>
              <a:t>taff </a:t>
            </a:r>
            <a:r>
              <a:rPr lang="en-US" sz="3200" b="1" cap="none" dirty="0">
                <a:solidFill>
                  <a:schemeClr val="tx1"/>
                </a:solidFill>
                <a:latin typeface="Calibri" panose="020F0502020204030204" pitchFamily="34" charset="0"/>
                <a:cs typeface="Calibri" panose="020F0502020204030204" pitchFamily="34" charset="0"/>
              </a:rPr>
              <a:t>C</a:t>
            </a:r>
            <a:r>
              <a:rPr lang="en-US" sz="3200" b="1" cap="none" dirty="0">
                <a:solidFill>
                  <a:schemeClr val="tx1"/>
                </a:solidFill>
                <a:effectLst/>
                <a:latin typeface="Calibri" panose="020F0502020204030204" pitchFamily="34" charset="0"/>
                <a:cs typeface="Calibri" panose="020F0502020204030204" pitchFamily="34" charset="0"/>
              </a:rPr>
              <a:t> stated that they did not know why there was only one choice for hostility. Staff </a:t>
            </a:r>
            <a:r>
              <a:rPr lang="en-US" sz="3200" b="1" cap="none" dirty="0">
                <a:solidFill>
                  <a:schemeClr val="tx1"/>
                </a:solidFill>
                <a:latin typeface="Calibri" panose="020F0502020204030204" pitchFamily="34" charset="0"/>
                <a:cs typeface="Calibri" panose="020F0502020204030204" pitchFamily="34" charset="0"/>
              </a:rPr>
              <a:t>C</a:t>
            </a:r>
            <a:r>
              <a:rPr lang="en-US" sz="3200" b="1" cap="none" dirty="0">
                <a:solidFill>
                  <a:schemeClr val="tx1"/>
                </a:solidFill>
                <a:effectLst/>
                <a:latin typeface="Calibri" panose="020F0502020204030204" pitchFamily="34" charset="0"/>
                <a:cs typeface="Calibri" panose="020F0502020204030204" pitchFamily="34" charset="0"/>
              </a:rPr>
              <a:t> also stated that there were components of the assessments that “can be confusing”.</a:t>
            </a:r>
          </a:p>
          <a:p>
            <a:pPr marL="0" marR="0" algn="l">
              <a:spcBef>
                <a:spcPts val="0"/>
              </a:spcBef>
              <a:spcAft>
                <a:spcPts val="0"/>
              </a:spcAft>
            </a:pPr>
            <a:r>
              <a:rPr lang="en-US" sz="3200" b="1" cap="none" dirty="0">
                <a:solidFill>
                  <a:schemeClr val="tx1"/>
                </a:solidFill>
                <a:effectLst/>
                <a:latin typeface="Calibri" panose="020F0502020204030204" pitchFamily="34" charset="0"/>
                <a:cs typeface="Calibri" panose="020F0502020204030204" pitchFamily="34" charset="0"/>
              </a:rPr>
              <a:t> </a:t>
            </a:r>
          </a:p>
          <a:p>
            <a:pPr marL="0" marR="0" algn="l">
              <a:spcBef>
                <a:spcPts val="0"/>
              </a:spcBef>
              <a:spcAft>
                <a:spcPts val="0"/>
              </a:spcAft>
            </a:pPr>
            <a:r>
              <a:rPr lang="en-US" sz="3200" b="1" cap="none" dirty="0">
                <a:solidFill>
                  <a:schemeClr val="tx1"/>
                </a:solidFill>
                <a:effectLst/>
                <a:highlight>
                  <a:srgbClr val="FFFF00"/>
                </a:highlight>
                <a:latin typeface="Calibri" panose="020F0502020204030204" pitchFamily="34" charset="0"/>
                <a:cs typeface="Calibri" panose="020F0502020204030204" pitchFamily="34" charset="0"/>
              </a:rPr>
              <a:t>(3)</a:t>
            </a:r>
            <a:r>
              <a:rPr lang="en-US" sz="3200" b="1" cap="none" dirty="0">
                <a:solidFill>
                  <a:schemeClr val="tx1"/>
                </a:solidFill>
                <a:effectLst/>
                <a:latin typeface="Calibri" panose="020F0502020204030204" pitchFamily="34" charset="0"/>
                <a:cs typeface="Calibri" panose="020F0502020204030204" pitchFamily="34" charset="0"/>
              </a:rPr>
              <a:t> “</a:t>
            </a:r>
            <a:r>
              <a:rPr lang="en-US" sz="3200" b="1" cap="none" dirty="0">
                <a:solidFill>
                  <a:schemeClr val="tx1"/>
                </a:solidFill>
                <a:latin typeface="Calibri" panose="020F0502020204030204" pitchFamily="34" charset="0"/>
                <a:cs typeface="Calibri" panose="020F0502020204030204" pitchFamily="34" charset="0"/>
              </a:rPr>
              <a:t>S</a:t>
            </a:r>
            <a:r>
              <a:rPr lang="en-US" sz="3200" b="1" cap="none" dirty="0">
                <a:solidFill>
                  <a:schemeClr val="tx1"/>
                </a:solidFill>
                <a:effectLst/>
                <a:latin typeface="Calibri" panose="020F0502020204030204" pitchFamily="34" charset="0"/>
                <a:cs typeface="Calibri" panose="020F0502020204030204" pitchFamily="34" charset="0"/>
              </a:rPr>
              <a:t>exually inappropriate” behavior was added to Patient #1’s “Interdisciplinary </a:t>
            </a:r>
            <a:r>
              <a:rPr lang="en-US" sz="3200" b="1" cap="none" dirty="0">
                <a:solidFill>
                  <a:schemeClr val="tx1"/>
                </a:solidFill>
                <a:latin typeface="Calibri" panose="020F0502020204030204" pitchFamily="34" charset="0"/>
                <a:cs typeface="Calibri" panose="020F0502020204030204" pitchFamily="34" charset="0"/>
              </a:rPr>
              <a:t>M</a:t>
            </a:r>
            <a:r>
              <a:rPr lang="en-US" sz="3200" b="1" cap="none" dirty="0">
                <a:solidFill>
                  <a:schemeClr val="tx1"/>
                </a:solidFill>
                <a:effectLst/>
                <a:latin typeface="Calibri" panose="020F0502020204030204" pitchFamily="34" charset="0"/>
                <a:cs typeface="Calibri" panose="020F0502020204030204" pitchFamily="34" charset="0"/>
              </a:rPr>
              <a:t>aster </a:t>
            </a:r>
            <a:r>
              <a:rPr lang="en-US" sz="3200" b="1" cap="none" dirty="0">
                <a:solidFill>
                  <a:schemeClr val="tx1"/>
                </a:solidFill>
                <a:latin typeface="Calibri" panose="020F0502020204030204" pitchFamily="34" charset="0"/>
                <a:cs typeface="Calibri" panose="020F0502020204030204" pitchFamily="34" charset="0"/>
              </a:rPr>
              <a:t>T</a:t>
            </a:r>
            <a:r>
              <a:rPr lang="en-US" sz="3200" b="1" cap="none" dirty="0">
                <a:solidFill>
                  <a:schemeClr val="tx1"/>
                </a:solidFill>
                <a:effectLst/>
                <a:latin typeface="Calibri" panose="020F0502020204030204" pitchFamily="34" charset="0"/>
                <a:cs typeface="Calibri" panose="020F0502020204030204" pitchFamily="34" charset="0"/>
              </a:rPr>
              <a:t>reatment </a:t>
            </a:r>
            <a:r>
              <a:rPr lang="en-US" sz="3200" b="1" cap="none" dirty="0">
                <a:solidFill>
                  <a:schemeClr val="tx1"/>
                </a:solidFill>
                <a:latin typeface="Calibri" panose="020F0502020204030204" pitchFamily="34" charset="0"/>
                <a:cs typeface="Calibri" panose="020F0502020204030204" pitchFamily="34" charset="0"/>
              </a:rPr>
              <a:t>P</a:t>
            </a:r>
            <a:r>
              <a:rPr lang="en-US" sz="3200" b="1" cap="none" dirty="0">
                <a:solidFill>
                  <a:schemeClr val="tx1"/>
                </a:solidFill>
                <a:effectLst/>
                <a:latin typeface="Calibri" panose="020F0502020204030204" pitchFamily="34" charset="0"/>
                <a:cs typeface="Calibri" panose="020F0502020204030204" pitchFamily="34" charset="0"/>
              </a:rPr>
              <a:t>lan” on 03/12/21. For this identified problem, “SAP” was listed as a continuous goal.  No documentation was found or produced to show the patient was placed on SAP when the problem was identified.</a:t>
            </a:r>
            <a:endParaRPr lang="en-US" sz="3200" b="1" cap="none"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endParaRPr>
          </a:p>
          <a:p>
            <a:endParaRPr lang="en-US" dirty="0"/>
          </a:p>
        </p:txBody>
      </p:sp>
    </p:spTree>
    <p:extLst>
      <p:ext uri="{BB962C8B-B14F-4D97-AF65-F5344CB8AC3E}">
        <p14:creationId xmlns:p14="http://schemas.microsoft.com/office/powerpoint/2010/main" val="4258360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11698" y="741407"/>
            <a:ext cx="3935688" cy="733168"/>
          </a:xfrm>
        </p:spPr>
        <p:txBody>
          <a:bodyPr>
            <a:noAutofit/>
          </a:bodyPr>
          <a:lstStyle/>
          <a:p>
            <a:r>
              <a:rPr lang="en-US" sz="2400" dirty="0"/>
              <a:t>How to Document a facility or agency policy</a:t>
            </a:r>
          </a:p>
        </p:txBody>
      </p:sp>
      <p:pic>
        <p:nvPicPr>
          <p:cNvPr id="5" name="Content Placeholder 4"/>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7121002" y="1763049"/>
            <a:ext cx="4048597" cy="2654557"/>
          </a:xfrm>
        </p:spPr>
      </p:pic>
      <p:sp>
        <p:nvSpPr>
          <p:cNvPr id="4" name="Text Placeholder 3"/>
          <p:cNvSpPr>
            <a:spLocks noGrp="1"/>
          </p:cNvSpPr>
          <p:nvPr>
            <p:ph type="body" sz="half" idx="2"/>
          </p:nvPr>
        </p:nvSpPr>
        <p:spPr>
          <a:xfrm>
            <a:off x="913774" y="1647569"/>
            <a:ext cx="5849491" cy="4316625"/>
          </a:xfrm>
        </p:spPr>
        <p:txBody>
          <a:bodyPr/>
          <a:lstStyle/>
          <a:p>
            <a:pPr marL="285750" indent="-285750" algn="l">
              <a:buFont typeface="Wingdings" panose="05000000000000000000" pitchFamily="2" charset="2"/>
              <a:buChar char="q"/>
            </a:pPr>
            <a:r>
              <a:rPr lang="en-US" dirty="0"/>
              <a:t>Only use the part of the policy that supports the citation.</a:t>
            </a:r>
          </a:p>
          <a:p>
            <a:pPr marL="285750" indent="-285750" algn="l">
              <a:buFont typeface="Wingdings" panose="05000000000000000000" pitchFamily="2" charset="2"/>
              <a:buChar char="q"/>
            </a:pPr>
            <a:r>
              <a:rPr lang="en-US" dirty="0"/>
              <a:t>do not include the words “in part”. </a:t>
            </a:r>
          </a:p>
          <a:p>
            <a:pPr marL="285750" indent="-285750" algn="l">
              <a:buFont typeface="Wingdings" panose="05000000000000000000" pitchFamily="2" charset="2"/>
              <a:buChar char="q"/>
            </a:pPr>
            <a:r>
              <a:rPr lang="en-US" dirty="0"/>
              <a:t>put the policy title in quotes, not the paraphrased policy directives you are including. </a:t>
            </a:r>
          </a:p>
          <a:p>
            <a:pPr marL="285750" indent="-285750" algn="l">
              <a:buFont typeface="Wingdings" panose="05000000000000000000" pitchFamily="2" charset="2"/>
              <a:buChar char="q"/>
            </a:pPr>
            <a:r>
              <a:rPr lang="en-US" dirty="0"/>
              <a:t>Put a comma after the word titled, name the policy in the quotes, and follow that with another comma.</a:t>
            </a:r>
          </a:p>
        </p:txBody>
      </p:sp>
    </p:spTree>
    <p:extLst>
      <p:ext uri="{BB962C8B-B14F-4D97-AF65-F5344CB8AC3E}">
        <p14:creationId xmlns:p14="http://schemas.microsoft.com/office/powerpoint/2010/main" val="5530033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400C858-E4A0-3168-DD71-2C7095D3C347}"/>
              </a:ext>
            </a:extLst>
          </p:cNvPr>
          <p:cNvSpPr>
            <a:spLocks noGrp="1"/>
          </p:cNvSpPr>
          <p:nvPr>
            <p:ph type="title"/>
          </p:nvPr>
        </p:nvSpPr>
        <p:spPr>
          <a:xfrm>
            <a:off x="913774" y="828563"/>
            <a:ext cx="10351752" cy="523987"/>
          </a:xfrm>
        </p:spPr>
        <p:txBody>
          <a:bodyPr>
            <a:normAutofit fontScale="90000"/>
          </a:bodyPr>
          <a:lstStyle/>
          <a:p>
            <a:r>
              <a:rPr lang="en-US" dirty="0"/>
              <a:t>Policy reference example</a:t>
            </a:r>
          </a:p>
        </p:txBody>
      </p:sp>
      <p:graphicFrame>
        <p:nvGraphicFramePr>
          <p:cNvPr id="8" name="Table 7">
            <a:extLst>
              <a:ext uri="{FF2B5EF4-FFF2-40B4-BE49-F238E27FC236}">
                <a16:creationId xmlns:a16="http://schemas.microsoft.com/office/drawing/2014/main" id="{CE7147AE-58F5-A6C7-4116-CB68AA679F05}"/>
              </a:ext>
            </a:extLst>
          </p:cNvPr>
          <p:cNvGraphicFramePr>
            <a:graphicFrameLocks noGrp="1"/>
          </p:cNvGraphicFramePr>
          <p:nvPr>
            <p:extLst>
              <p:ext uri="{D42A27DB-BD31-4B8C-83A1-F6EECF244321}">
                <p14:modId xmlns:p14="http://schemas.microsoft.com/office/powerpoint/2010/main" val="691060321"/>
              </p:ext>
            </p:extLst>
          </p:nvPr>
        </p:nvGraphicFramePr>
        <p:xfrm>
          <a:off x="902326" y="1352550"/>
          <a:ext cx="10363200" cy="4819650"/>
        </p:xfrm>
        <a:graphic>
          <a:graphicData uri="http://schemas.openxmlformats.org/drawingml/2006/table">
            <a:tbl>
              <a:tblPr>
                <a:tableStyleId>{5C22544A-7EE6-4342-B048-85BDC9FD1C3A}</a:tableStyleId>
              </a:tblPr>
              <a:tblGrid>
                <a:gridCol w="10363200">
                  <a:extLst>
                    <a:ext uri="{9D8B030D-6E8A-4147-A177-3AD203B41FA5}">
                      <a16:colId xmlns:a16="http://schemas.microsoft.com/office/drawing/2014/main" val="2397337824"/>
                    </a:ext>
                  </a:extLst>
                </a:gridCol>
              </a:tblGrid>
              <a:tr h="4819650">
                <a:tc>
                  <a:txBody>
                    <a:bodyPr/>
                    <a:lstStyle/>
                    <a:p>
                      <a:pPr marL="0" marR="0" algn="l">
                        <a:spcBef>
                          <a:spcPts val="0"/>
                        </a:spcBef>
                        <a:spcAft>
                          <a:spcPts val="0"/>
                        </a:spcAft>
                      </a:pPr>
                      <a:r>
                        <a:rPr lang="en-US" sz="2400" dirty="0">
                          <a:effectLst/>
                          <a:latin typeface="Times New Roman" panose="02020603050405020304" pitchFamily="18" charset="0"/>
                          <a:cs typeface="Times New Roman" panose="02020603050405020304" pitchFamily="18" charset="0"/>
                        </a:rPr>
                        <a:t>1. Review of the facility’s policy titled, “Reporting Critical Incidents Involving Clients, staff, or others,” Policy A19, revised 12/03/21, showed that the facility would have a system to report critical incidents, “including a description of how the agency directs staff to report to the department within 48 hours any critical incident…” The policy failed to include a description of how the agency directs staff to report to the department any critical incident based on the following:</a:t>
                      </a:r>
                    </a:p>
                    <a:p>
                      <a:pPr marL="0" marR="0" algn="l">
                        <a:spcBef>
                          <a:spcPts val="0"/>
                        </a:spcBef>
                        <a:spcAft>
                          <a:spcPts val="0"/>
                        </a:spcAft>
                      </a:pPr>
                      <a:r>
                        <a:rPr lang="en-US" sz="2400" dirty="0">
                          <a:effectLst/>
                          <a:latin typeface="Times New Roman" panose="02020603050405020304" pitchFamily="18" charset="0"/>
                          <a:cs typeface="Times New Roman" panose="02020603050405020304" pitchFamily="18" charset="0"/>
                        </a:rPr>
                        <a:t> </a:t>
                      </a:r>
                    </a:p>
                    <a:p>
                      <a:pPr marL="457200" marR="0" indent="-457200" algn="l">
                        <a:spcBef>
                          <a:spcPts val="0"/>
                        </a:spcBef>
                        <a:spcAft>
                          <a:spcPts val="0"/>
                        </a:spcAft>
                        <a:buAutoNum type="alphaLcPeriod"/>
                      </a:pPr>
                      <a:r>
                        <a:rPr lang="en-US" sz="2400" dirty="0">
                          <a:effectLst/>
                          <a:latin typeface="Times New Roman" panose="02020603050405020304" pitchFamily="18" charset="0"/>
                          <a:cs typeface="Times New Roman" panose="02020603050405020304" pitchFamily="18" charset="0"/>
                        </a:rPr>
                        <a:t>The procedure showed that the facility’s Chief Executive Officer (CEO) or their designee would report all critical incidents to insurance or GR-ASO (Great Rivers Behavioral Health - Administrative Services Organization) for transmission to the state. The policy did not include directions on reporting directly to the Department of Health (DOH). </a:t>
                      </a:r>
                    </a:p>
                    <a:p>
                      <a:pPr marL="457200" marR="0" indent="-457200" algn="l">
                        <a:spcBef>
                          <a:spcPts val="0"/>
                        </a:spcBef>
                        <a:spcAft>
                          <a:spcPts val="0"/>
                        </a:spcAft>
                        <a:buAutoNum type="alphaLcPeriod"/>
                      </a:pPr>
                      <a:r>
                        <a:rPr lang="en-US" sz="2400" dirty="0">
                          <a:effectLst/>
                          <a:latin typeface="Times New Roman" panose="02020603050405020304" pitchFamily="18" charset="0"/>
                          <a:ea typeface="MS Mincho" panose="02020609040205080304" pitchFamily="49" charset="-128"/>
                          <a:cs typeface="Times New Roman" panose="02020603050405020304" pitchFamily="18" charset="0"/>
                        </a:rPr>
                        <a:t>…</a:t>
                      </a:r>
                    </a:p>
                  </a:txBody>
                  <a:tcPr marL="114300" marR="114300" marT="0" marB="0"/>
                </a:tc>
                <a:extLst>
                  <a:ext uri="{0D108BD9-81ED-4DB2-BD59-A6C34878D82A}">
                    <a16:rowId xmlns:a16="http://schemas.microsoft.com/office/drawing/2014/main" val="2192425798"/>
                  </a:ext>
                </a:extLst>
              </a:tr>
            </a:tbl>
          </a:graphicData>
        </a:graphic>
      </p:graphicFrame>
    </p:spTree>
    <p:extLst>
      <p:ext uri="{BB962C8B-B14F-4D97-AF65-F5344CB8AC3E}">
        <p14:creationId xmlns:p14="http://schemas.microsoft.com/office/powerpoint/2010/main" val="35576213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9974" y="214864"/>
            <a:ext cx="10364451" cy="971386"/>
          </a:xfrm>
        </p:spPr>
        <p:txBody>
          <a:bodyPr>
            <a:normAutofit/>
          </a:bodyPr>
          <a:lstStyle/>
          <a:p>
            <a:r>
              <a:rPr lang="en-US" sz="3200" dirty="0"/>
              <a:t>Documenting interviews</a:t>
            </a:r>
          </a:p>
        </p:txBody>
      </p:sp>
      <p:sp>
        <p:nvSpPr>
          <p:cNvPr id="3" name="Content Placeholder 2"/>
          <p:cNvSpPr>
            <a:spLocks noGrp="1"/>
          </p:cNvSpPr>
          <p:nvPr>
            <p:ph sz="quarter" idx="13"/>
          </p:nvPr>
        </p:nvSpPr>
        <p:spPr>
          <a:xfrm>
            <a:off x="913774" y="1186250"/>
            <a:ext cx="5106026" cy="5313404"/>
          </a:xfrm>
        </p:spPr>
        <p:txBody>
          <a:bodyPr/>
          <a:lstStyle/>
          <a:p>
            <a:pPr>
              <a:buFont typeface="Wingdings" panose="05000000000000000000" pitchFamily="2" charset="2"/>
              <a:buChar char="q"/>
            </a:pPr>
            <a:r>
              <a:rPr lang="en-US" sz="1600" dirty="0"/>
              <a:t>when recording interviews, use the verb “stated” or “stated that.” use the verb “stated” for direct quotes with quotation marks and “stated that” for paraphrasing. </a:t>
            </a:r>
          </a:p>
          <a:p>
            <a:pPr>
              <a:buFont typeface="Wingdings" panose="05000000000000000000" pitchFamily="2" charset="2"/>
              <a:buChar char="q"/>
            </a:pPr>
            <a:r>
              <a:rPr lang="en-US" sz="1600" dirty="0"/>
              <a:t>Record the date and times of interviews (and location if applicable). </a:t>
            </a:r>
          </a:p>
          <a:p>
            <a:pPr>
              <a:buFont typeface="Wingdings" panose="05000000000000000000" pitchFamily="2" charset="2"/>
              <a:buChar char="q"/>
            </a:pPr>
            <a:r>
              <a:rPr lang="en-US" sz="1600" dirty="0"/>
              <a:t>when referencing staff spell out the specialty, use their abbreviated title.</a:t>
            </a:r>
          </a:p>
          <a:p>
            <a:pPr>
              <a:buFont typeface="Wingdings" panose="05000000000000000000" pitchFamily="2" charset="2"/>
              <a:buChar char="q"/>
            </a:pPr>
            <a:r>
              <a:rPr lang="en-US" sz="1600" dirty="0"/>
              <a:t>interviews specific to a patient should be included in the same number reference finding as the rest of the information regarding the patient. </a:t>
            </a:r>
          </a:p>
        </p:txBody>
      </p:sp>
      <p:sp>
        <p:nvSpPr>
          <p:cNvPr id="4" name="Content Placeholder 3"/>
          <p:cNvSpPr>
            <a:spLocks noGrp="1"/>
          </p:cNvSpPr>
          <p:nvPr>
            <p:ph sz="quarter" idx="14"/>
          </p:nvPr>
        </p:nvSpPr>
        <p:spPr>
          <a:xfrm>
            <a:off x="6172200" y="1186250"/>
            <a:ext cx="5105400" cy="4604949"/>
          </a:xfrm>
        </p:spPr>
        <p:txBody>
          <a:bodyPr>
            <a:normAutofit/>
          </a:bodyPr>
          <a:lstStyle/>
          <a:p>
            <a:pPr>
              <a:buFont typeface="Wingdings" panose="05000000000000000000" pitchFamily="2" charset="2"/>
              <a:buChar char="q"/>
            </a:pPr>
            <a:r>
              <a:rPr lang="en-US" sz="1600" dirty="0"/>
              <a:t>quotes, if used from an interview, must reflect the exact wording said by the interviewee. </a:t>
            </a:r>
          </a:p>
          <a:p>
            <a:pPr>
              <a:buFont typeface="Wingdings" panose="05000000000000000000" pitchFamily="2" charset="2"/>
              <a:buChar char="q"/>
            </a:pPr>
            <a:r>
              <a:rPr lang="en-US" sz="1600" dirty="0"/>
              <a:t>Use quotes sparingly.</a:t>
            </a:r>
          </a:p>
          <a:p>
            <a:pPr>
              <a:buFont typeface="Wingdings" panose="05000000000000000000" pitchFamily="2" charset="2"/>
              <a:buChar char="q"/>
            </a:pPr>
            <a:r>
              <a:rPr lang="en-US" sz="1600" dirty="0"/>
              <a:t>paraphrasing is preferred unless the exact words make the citation stronger or points out the magnitude of the citation or make it clear that a descriptive phrase is that of the interviewee, not the surveyor/investigator. </a:t>
            </a:r>
          </a:p>
          <a:p>
            <a:pPr>
              <a:buFont typeface="Wingdings" panose="05000000000000000000" pitchFamily="2" charset="2"/>
              <a:buChar char="q"/>
            </a:pPr>
            <a:r>
              <a:rPr lang="en-US" sz="1600" dirty="0"/>
              <a:t>If you need to clarify something within a quote, it should be denoted in brackets.</a:t>
            </a:r>
          </a:p>
        </p:txBody>
      </p:sp>
    </p:spTree>
    <p:extLst>
      <p:ext uri="{BB962C8B-B14F-4D97-AF65-F5344CB8AC3E}">
        <p14:creationId xmlns:p14="http://schemas.microsoft.com/office/powerpoint/2010/main" val="29838005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12446-0586-E676-3CA5-32D674B571D2}"/>
              </a:ext>
            </a:extLst>
          </p:cNvPr>
          <p:cNvSpPr>
            <a:spLocks noGrp="1"/>
          </p:cNvSpPr>
          <p:nvPr>
            <p:ph type="title"/>
          </p:nvPr>
        </p:nvSpPr>
        <p:spPr>
          <a:xfrm>
            <a:off x="913774" y="828564"/>
            <a:ext cx="10351752" cy="552562"/>
          </a:xfrm>
        </p:spPr>
        <p:txBody>
          <a:bodyPr>
            <a:normAutofit fontScale="90000"/>
          </a:bodyPr>
          <a:lstStyle/>
          <a:p>
            <a:r>
              <a:rPr lang="en-US" dirty="0"/>
              <a:t>Interview examples</a:t>
            </a:r>
          </a:p>
        </p:txBody>
      </p:sp>
      <p:sp>
        <p:nvSpPr>
          <p:cNvPr id="3" name="Text Placeholder 2">
            <a:extLst>
              <a:ext uri="{FF2B5EF4-FFF2-40B4-BE49-F238E27FC236}">
                <a16:creationId xmlns:a16="http://schemas.microsoft.com/office/drawing/2014/main" id="{41F97F09-D030-CA48-6661-EE56792100A9}"/>
              </a:ext>
            </a:extLst>
          </p:cNvPr>
          <p:cNvSpPr>
            <a:spLocks noGrp="1"/>
          </p:cNvSpPr>
          <p:nvPr>
            <p:ph type="body" idx="1"/>
          </p:nvPr>
        </p:nvSpPr>
        <p:spPr>
          <a:xfrm>
            <a:off x="913774" y="1473693"/>
            <a:ext cx="10351752" cy="5079506"/>
          </a:xfrm>
        </p:spPr>
        <p:txBody>
          <a:bodyPr/>
          <a:lstStyle/>
          <a:p>
            <a:pPr algn="l"/>
            <a:endParaRPr lang="en-US"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E0524C8D-4896-9A8E-8C6C-6EBAFF65C1F3}"/>
              </a:ext>
            </a:extLst>
          </p:cNvPr>
          <p:cNvGraphicFramePr>
            <a:graphicFrameLocks noGrp="1"/>
          </p:cNvGraphicFramePr>
          <p:nvPr>
            <p:extLst>
              <p:ext uri="{D42A27DB-BD31-4B8C-83A1-F6EECF244321}">
                <p14:modId xmlns:p14="http://schemas.microsoft.com/office/powerpoint/2010/main" val="3542522510"/>
              </p:ext>
            </p:extLst>
          </p:nvPr>
        </p:nvGraphicFramePr>
        <p:xfrm>
          <a:off x="914400" y="1473693"/>
          <a:ext cx="10363200" cy="5079505"/>
        </p:xfrm>
        <a:graphic>
          <a:graphicData uri="http://schemas.openxmlformats.org/drawingml/2006/table">
            <a:tbl>
              <a:tblPr>
                <a:tableStyleId>{5C22544A-7EE6-4342-B048-85BDC9FD1C3A}</a:tableStyleId>
              </a:tblPr>
              <a:tblGrid>
                <a:gridCol w="10363200">
                  <a:extLst>
                    <a:ext uri="{9D8B030D-6E8A-4147-A177-3AD203B41FA5}">
                      <a16:colId xmlns:a16="http://schemas.microsoft.com/office/drawing/2014/main" val="120729455"/>
                    </a:ext>
                  </a:extLst>
                </a:gridCol>
              </a:tblGrid>
              <a:tr h="5079505">
                <a:tc>
                  <a:txBody>
                    <a:bodyPr/>
                    <a:lstStyle/>
                    <a:p>
                      <a:pPr marL="0" marR="0" algn="l">
                        <a:lnSpc>
                          <a:spcPct val="107000"/>
                        </a:lnSpc>
                        <a:spcBef>
                          <a:spcPts val="0"/>
                        </a:spcBef>
                        <a:spcAft>
                          <a:spcPts val="0"/>
                        </a:spcAft>
                        <a:tabLst>
                          <a:tab pos="2296795" algn="l"/>
                        </a:tabLst>
                      </a:pPr>
                      <a:r>
                        <a:rPr lang="en-US" sz="1800" dirty="0">
                          <a:effectLst/>
                          <a:latin typeface="Times New Roman" panose="02020603050405020304" pitchFamily="18" charset="0"/>
                          <a:cs typeface="Times New Roman" panose="02020603050405020304" pitchFamily="18" charset="0"/>
                        </a:rPr>
                        <a:t>7. During an interview with Staff B, licensed mental health counselor (LMHC), on 04/20/23 beginning at 2:00 PM, the following information was provided to Investigator #2 :</a:t>
                      </a:r>
                    </a:p>
                    <a:p>
                      <a:pPr marL="0" marR="0" algn="l">
                        <a:lnSpc>
                          <a:spcPct val="107000"/>
                        </a:lnSpc>
                        <a:spcBef>
                          <a:spcPts val="0"/>
                        </a:spcBef>
                        <a:spcAft>
                          <a:spcPts val="0"/>
                        </a:spcAft>
                        <a:tabLst>
                          <a:tab pos="2296795" algn="l"/>
                        </a:tabLst>
                      </a:pPr>
                      <a:r>
                        <a:rPr lang="en-US" sz="1800" dirty="0">
                          <a:effectLst/>
                          <a:latin typeface="Times New Roman" panose="02020603050405020304" pitchFamily="18" charset="0"/>
                          <a:cs typeface="Times New Roman" panose="02020603050405020304" pitchFamily="18" charset="0"/>
                        </a:rPr>
                        <a:t> </a:t>
                      </a:r>
                    </a:p>
                    <a:p>
                      <a:pPr marL="342900" marR="0" indent="-342900" algn="l">
                        <a:lnSpc>
                          <a:spcPct val="107000"/>
                        </a:lnSpc>
                        <a:spcBef>
                          <a:spcPts val="0"/>
                        </a:spcBef>
                        <a:spcAft>
                          <a:spcPts val="0"/>
                        </a:spcAft>
                        <a:buAutoNum type="alphaLcPeriod"/>
                        <a:tabLst>
                          <a:tab pos="2296795" algn="l"/>
                        </a:tabLst>
                      </a:pPr>
                      <a:r>
                        <a:rPr lang="en-US" sz="1800" dirty="0">
                          <a:effectLst/>
                          <a:latin typeface="Times New Roman" panose="02020603050405020304" pitchFamily="18" charset="0"/>
                          <a:cs typeface="Times New Roman" panose="02020603050405020304" pitchFamily="18" charset="0"/>
                        </a:rPr>
                        <a:t>When asked how they handle a request from a voluntary patient to leave the facility, Staff B stated that they try to discourage the patient from leaving. They stated they try to “talk them out of it” because it already took the patient many hours to be admitted and patients are often “at wits end” by the time they are admitted. Staff B stated that they encourage the patient to stay because it is common for patients to want to leave after admission.</a:t>
                      </a:r>
                    </a:p>
                    <a:p>
                      <a:pPr marL="342900" marR="0" indent="-342900" algn="l">
                        <a:lnSpc>
                          <a:spcPct val="107000"/>
                        </a:lnSpc>
                        <a:spcBef>
                          <a:spcPts val="0"/>
                        </a:spcBef>
                        <a:spcAft>
                          <a:spcPts val="0"/>
                        </a:spcAft>
                        <a:buAutoNum type="alphaLcPeriod"/>
                        <a:tabLst>
                          <a:tab pos="2296795" algn="l"/>
                        </a:tabLst>
                      </a:pP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lgn="l">
                        <a:lnSpc>
                          <a:spcPct val="107000"/>
                        </a:lnSpc>
                        <a:spcBef>
                          <a:spcPts val="0"/>
                        </a:spcBef>
                        <a:spcAft>
                          <a:spcPts val="0"/>
                        </a:spcAft>
                        <a:buNone/>
                        <a:tabLst>
                          <a:tab pos="2296795" algn="l"/>
                        </a:tabLst>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8. During an interview on 02/22/23 at 12:48 PM with Staff A, Quality Manager, and Staff B, Clinical Manager, when asked about reporting allegations of abuse to DOH, both Staff A and Staff B stated that they do not report allegations of abuse when allegations are believed to be part of the patient’s illness and not real.</a:t>
                      </a:r>
                    </a:p>
                    <a:p>
                      <a:pPr marL="0" marR="0" indent="0" algn="l">
                        <a:lnSpc>
                          <a:spcPct val="107000"/>
                        </a:lnSpc>
                        <a:spcBef>
                          <a:spcPts val="0"/>
                        </a:spcBef>
                        <a:spcAft>
                          <a:spcPts val="0"/>
                        </a:spcAft>
                        <a:buNone/>
                        <a:tabLst>
                          <a:tab pos="2296795" algn="l"/>
                        </a:tabLst>
                      </a:pPr>
                      <a:endParaRPr lang="en-US" sz="1800" kern="1200" dirty="0">
                        <a:solidFill>
                          <a:schemeClr val="dk1"/>
                        </a:solidFill>
                        <a:effectLst/>
                        <a:latin typeface="Times New Roman" panose="02020603050405020304" pitchFamily="18" charset="0"/>
                        <a:ea typeface="+mn-ea"/>
                        <a:cs typeface="Times New Roman" panose="02020603050405020304" pitchFamily="18" charset="0"/>
                      </a:endParaRPr>
                    </a:p>
                    <a:p>
                      <a:pPr marL="0" marR="0" indent="0" algn="l">
                        <a:lnSpc>
                          <a:spcPct val="107000"/>
                        </a:lnSpc>
                        <a:spcBef>
                          <a:spcPts val="0"/>
                        </a:spcBef>
                        <a:spcAft>
                          <a:spcPts val="0"/>
                        </a:spcAft>
                        <a:buNone/>
                        <a:tabLst>
                          <a:tab pos="2296795" algn="l"/>
                        </a:tabLst>
                      </a:pP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0" marB="0"/>
                </a:tc>
                <a:extLst>
                  <a:ext uri="{0D108BD9-81ED-4DB2-BD59-A6C34878D82A}">
                    <a16:rowId xmlns:a16="http://schemas.microsoft.com/office/drawing/2014/main" val="840610387"/>
                  </a:ext>
                </a:extLst>
              </a:tr>
            </a:tbl>
          </a:graphicData>
        </a:graphic>
      </p:graphicFrame>
    </p:spTree>
    <p:extLst>
      <p:ext uri="{BB962C8B-B14F-4D97-AF65-F5344CB8AC3E}">
        <p14:creationId xmlns:p14="http://schemas.microsoft.com/office/powerpoint/2010/main" val="1115813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4" y="148281"/>
            <a:ext cx="10364451" cy="963827"/>
          </a:xfrm>
        </p:spPr>
        <p:txBody>
          <a:bodyPr>
            <a:normAutofit/>
          </a:bodyPr>
          <a:lstStyle/>
          <a:p>
            <a:r>
              <a:rPr lang="en-US" sz="3200" dirty="0"/>
              <a:t>Document review</a:t>
            </a:r>
          </a:p>
        </p:txBody>
      </p:sp>
      <p:sp>
        <p:nvSpPr>
          <p:cNvPr id="3" name="Content Placeholder 2"/>
          <p:cNvSpPr>
            <a:spLocks noGrp="1"/>
          </p:cNvSpPr>
          <p:nvPr>
            <p:ph sz="quarter" idx="13"/>
          </p:nvPr>
        </p:nvSpPr>
        <p:spPr>
          <a:xfrm>
            <a:off x="913774" y="1548335"/>
            <a:ext cx="5106026" cy="3350835"/>
          </a:xfrm>
        </p:spPr>
        <p:txBody>
          <a:bodyPr>
            <a:normAutofit/>
          </a:bodyPr>
          <a:lstStyle/>
          <a:p>
            <a:pPr>
              <a:buFont typeface="Wingdings" panose="05000000000000000000" pitchFamily="2" charset="2"/>
              <a:buChar char="q"/>
            </a:pPr>
            <a:r>
              <a:rPr lang="en-US" sz="1600" dirty="0"/>
              <a:t>When recording document reviews, use the verb “showed”.</a:t>
            </a:r>
          </a:p>
          <a:p>
            <a:pPr>
              <a:buFont typeface="Wingdings" panose="05000000000000000000" pitchFamily="2" charset="2"/>
              <a:buChar char="q"/>
            </a:pPr>
            <a:r>
              <a:rPr lang="en-US" sz="1600" dirty="0"/>
              <a:t>Dates and times of the surveyor’s/investigator’s document review can be included in the surveyor’s/investigator’s notes/memo to file but should not be included in the sod unless it is important to the body of the evidence.  </a:t>
            </a:r>
          </a:p>
        </p:txBody>
      </p:sp>
      <p:pic>
        <p:nvPicPr>
          <p:cNvPr id="5" name="Content Placeholder 4"/>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7022039" y="1548335"/>
            <a:ext cx="4354527" cy="3265895"/>
          </a:xfrm>
        </p:spPr>
      </p:pic>
    </p:spTree>
    <p:extLst>
      <p:ext uri="{BB962C8B-B14F-4D97-AF65-F5344CB8AC3E}">
        <p14:creationId xmlns:p14="http://schemas.microsoft.com/office/powerpoint/2010/main" val="40847622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836B4C9-D6BF-92D6-25CF-CC0D776E7275}"/>
              </a:ext>
            </a:extLst>
          </p:cNvPr>
          <p:cNvSpPr>
            <a:spLocks noGrp="1"/>
          </p:cNvSpPr>
          <p:nvPr>
            <p:ph type="title"/>
          </p:nvPr>
        </p:nvSpPr>
        <p:spPr>
          <a:xfrm>
            <a:off x="906807" y="526560"/>
            <a:ext cx="10351752" cy="666862"/>
          </a:xfrm>
        </p:spPr>
        <p:txBody>
          <a:bodyPr/>
          <a:lstStyle/>
          <a:p>
            <a:r>
              <a:rPr lang="en-US" dirty="0"/>
              <a:t>Document review samples</a:t>
            </a:r>
          </a:p>
        </p:txBody>
      </p:sp>
      <p:sp>
        <p:nvSpPr>
          <p:cNvPr id="6" name="Text Placeholder 5">
            <a:extLst>
              <a:ext uri="{FF2B5EF4-FFF2-40B4-BE49-F238E27FC236}">
                <a16:creationId xmlns:a16="http://schemas.microsoft.com/office/drawing/2014/main" id="{19FE67ED-B925-CD88-8EEB-A43084C6AF5E}"/>
              </a:ext>
            </a:extLst>
          </p:cNvPr>
          <p:cNvSpPr>
            <a:spLocks noGrp="1"/>
          </p:cNvSpPr>
          <p:nvPr>
            <p:ph type="body" idx="1"/>
          </p:nvPr>
        </p:nvSpPr>
        <p:spPr>
          <a:xfrm>
            <a:off x="913774" y="1411550"/>
            <a:ext cx="10351752" cy="5446449"/>
          </a:xfrm>
        </p:spPr>
        <p:txBody>
          <a:bodyPr/>
          <a:lstStyle/>
          <a:p>
            <a:endParaRPr lang="en-US" dirty="0"/>
          </a:p>
        </p:txBody>
      </p:sp>
      <p:graphicFrame>
        <p:nvGraphicFramePr>
          <p:cNvPr id="7" name="Table 6">
            <a:extLst>
              <a:ext uri="{FF2B5EF4-FFF2-40B4-BE49-F238E27FC236}">
                <a16:creationId xmlns:a16="http://schemas.microsoft.com/office/drawing/2014/main" id="{42A6B924-D150-8CC9-B2B4-4B8588B38AD7}"/>
              </a:ext>
            </a:extLst>
          </p:cNvPr>
          <p:cNvGraphicFramePr>
            <a:graphicFrameLocks noGrp="1"/>
          </p:cNvGraphicFramePr>
          <p:nvPr>
            <p:extLst>
              <p:ext uri="{D42A27DB-BD31-4B8C-83A1-F6EECF244321}">
                <p14:modId xmlns:p14="http://schemas.microsoft.com/office/powerpoint/2010/main" val="4225450751"/>
              </p:ext>
            </p:extLst>
          </p:nvPr>
        </p:nvGraphicFramePr>
        <p:xfrm>
          <a:off x="887767" y="1411550"/>
          <a:ext cx="10389833" cy="4519467"/>
        </p:xfrm>
        <a:graphic>
          <a:graphicData uri="http://schemas.openxmlformats.org/drawingml/2006/table">
            <a:tbl>
              <a:tblPr>
                <a:tableStyleId>{5C22544A-7EE6-4342-B048-85BDC9FD1C3A}</a:tableStyleId>
              </a:tblPr>
              <a:tblGrid>
                <a:gridCol w="10389833">
                  <a:extLst>
                    <a:ext uri="{9D8B030D-6E8A-4147-A177-3AD203B41FA5}">
                      <a16:colId xmlns:a16="http://schemas.microsoft.com/office/drawing/2014/main" val="1240428869"/>
                    </a:ext>
                  </a:extLst>
                </a:gridCol>
              </a:tblGrid>
              <a:tr h="4519467">
                <a:tc>
                  <a:txBody>
                    <a:bodyPr/>
                    <a:lstStyle/>
                    <a:p>
                      <a:pPr marL="0" marR="0" algn="l">
                        <a:spcBef>
                          <a:spcPts val="0"/>
                        </a:spcBef>
                        <a:spcAft>
                          <a:spcPts val="0"/>
                        </a:spcAft>
                      </a:pPr>
                      <a:r>
                        <a:rPr lang="en-US" sz="1800" dirty="0">
                          <a:effectLst/>
                          <a:latin typeface="Times New Roman" panose="02020603050405020304" pitchFamily="18" charset="0"/>
                          <a:cs typeface="Times New Roman" panose="02020603050405020304" pitchFamily="18" charset="0"/>
                        </a:rPr>
                        <a:t>3. Review of patient clinical records by Investigator #1 showed five of 10 records (Patients #2, #3, #5, #6, and #10) had blank patient signature lines and unchecked boxes next to “Patient Participation” on the “Interdisciplinary Master Treatment Plan.” The plans did not include documentation that the ISP was mutually agreed upon with a copy made available to the individual or document a reason why the patient did not sign the ISP or receive a copy. </a:t>
                      </a:r>
                    </a:p>
                    <a:p>
                      <a:pPr marL="0" marR="0" algn="l">
                        <a:spcBef>
                          <a:spcPts val="0"/>
                        </a:spcBef>
                        <a:spcAft>
                          <a:spcPts val="0"/>
                        </a:spcAft>
                      </a:pP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l">
                        <a:spcBef>
                          <a:spcPts val="0"/>
                        </a:spcBef>
                        <a:spcAft>
                          <a:spcPts val="0"/>
                        </a:spcAft>
                      </a:pP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l">
                        <a:spcBef>
                          <a:spcPts val="0"/>
                        </a:spcBef>
                        <a:spcAft>
                          <a:spcPts val="0"/>
                        </a:spcAft>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4. Review of patient clinical records showed 10 of 10 records (Patients #1-#10) contained documentation that all individuals had either SVP and/or SAP on one or all of the “Patient Observation Records” in the chart or documentation elsewhere in the record that the patient should have been placed on one or both precautions. Nine of the 10 records (all except Patient #6) did not contain a sexually inappropriate behavior treatment plan. </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l">
                        <a:spcBef>
                          <a:spcPts val="0"/>
                        </a:spcBef>
                        <a:spcAft>
                          <a:spcPts val="0"/>
                        </a:spcAft>
                      </a:pP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0" marB="0"/>
                </a:tc>
                <a:extLst>
                  <a:ext uri="{0D108BD9-81ED-4DB2-BD59-A6C34878D82A}">
                    <a16:rowId xmlns:a16="http://schemas.microsoft.com/office/drawing/2014/main" val="3099860868"/>
                  </a:ext>
                </a:extLst>
              </a:tr>
            </a:tbl>
          </a:graphicData>
        </a:graphic>
      </p:graphicFrame>
    </p:spTree>
    <p:extLst>
      <p:ext uri="{BB962C8B-B14F-4D97-AF65-F5344CB8AC3E}">
        <p14:creationId xmlns:p14="http://schemas.microsoft.com/office/powerpoint/2010/main" val="32839020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5755" y="572529"/>
            <a:ext cx="3935688" cy="1001760"/>
          </a:xfrm>
        </p:spPr>
        <p:txBody>
          <a:bodyPr>
            <a:normAutofit/>
          </a:bodyPr>
          <a:lstStyle/>
          <a:p>
            <a:r>
              <a:rPr lang="en-US" sz="2800" dirty="0"/>
              <a:t>Documenting dates and times</a:t>
            </a:r>
          </a:p>
        </p:txBody>
      </p:sp>
      <p:pic>
        <p:nvPicPr>
          <p:cNvPr id="5" name="Content Placeholder 4"/>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6668528" y="2174789"/>
            <a:ext cx="4048531" cy="2865937"/>
          </a:xfrm>
        </p:spPr>
      </p:pic>
      <p:sp>
        <p:nvSpPr>
          <p:cNvPr id="4" name="Text Placeholder 3"/>
          <p:cNvSpPr>
            <a:spLocks noGrp="1"/>
          </p:cNvSpPr>
          <p:nvPr>
            <p:ph type="body" sz="half" idx="2"/>
          </p:nvPr>
        </p:nvSpPr>
        <p:spPr>
          <a:xfrm>
            <a:off x="1605754" y="2174789"/>
            <a:ext cx="3935689" cy="3534033"/>
          </a:xfrm>
        </p:spPr>
        <p:txBody>
          <a:bodyPr/>
          <a:lstStyle/>
          <a:p>
            <a:pPr marL="285750" indent="-285750" algn="l">
              <a:buFont typeface="Wingdings" panose="05000000000000000000" pitchFamily="2" charset="2"/>
              <a:buChar char="q"/>
            </a:pPr>
            <a:r>
              <a:rPr lang="en-US" dirty="0"/>
              <a:t>when documenting dates use leading zeroes and a 2-digit (not 4-digit) year indicator. </a:t>
            </a:r>
          </a:p>
          <a:p>
            <a:pPr algn="l"/>
            <a:r>
              <a:rPr lang="en-US" dirty="0"/>
              <a:t>Example - 08/15/23</a:t>
            </a:r>
          </a:p>
          <a:p>
            <a:pPr marL="285750" indent="-285750" algn="l">
              <a:buFont typeface="Wingdings" panose="05000000000000000000" pitchFamily="2" charset="2"/>
              <a:buChar char="q"/>
            </a:pPr>
            <a:r>
              <a:rPr lang="en-US" dirty="0"/>
              <a:t>Document time as follows: 1:00 AM, 11:00 PM.</a:t>
            </a:r>
            <a:r>
              <a:rPr lang="en-US" dirty="0">
                <a:highlight>
                  <a:srgbClr val="00FF00"/>
                </a:highlight>
              </a:rPr>
              <a:t> </a:t>
            </a:r>
          </a:p>
          <a:p>
            <a:pPr marL="285750" indent="-285750" algn="l">
              <a:buFont typeface="Wingdings" panose="05000000000000000000" pitchFamily="2" charset="2"/>
              <a:buChar char="q"/>
            </a:pPr>
            <a:r>
              <a:rPr lang="en-US" dirty="0"/>
              <a:t>Time all observations and interviews. </a:t>
            </a:r>
          </a:p>
        </p:txBody>
      </p:sp>
    </p:spTree>
    <p:extLst>
      <p:ext uri="{BB962C8B-B14F-4D97-AF65-F5344CB8AC3E}">
        <p14:creationId xmlns:p14="http://schemas.microsoft.com/office/powerpoint/2010/main" val="1368993529"/>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618518"/>
            <a:ext cx="10364451" cy="1267948"/>
          </a:xfrm>
        </p:spPr>
        <p:txBody>
          <a:bodyPr/>
          <a:lstStyle/>
          <a:p>
            <a:r>
              <a:rPr lang="en-US" u="sng" dirty="0"/>
              <a:t>patient and Staff numbers</a:t>
            </a:r>
          </a:p>
        </p:txBody>
      </p:sp>
      <p:sp>
        <p:nvSpPr>
          <p:cNvPr id="3" name="Content Placeholder 2"/>
          <p:cNvSpPr>
            <a:spLocks noGrp="1"/>
          </p:cNvSpPr>
          <p:nvPr>
            <p:ph sz="quarter" idx="13"/>
          </p:nvPr>
        </p:nvSpPr>
        <p:spPr>
          <a:xfrm>
            <a:off x="3542987" y="2165757"/>
            <a:ext cx="5106026" cy="3424107"/>
          </a:xfrm>
        </p:spPr>
        <p:txBody>
          <a:bodyPr>
            <a:normAutofit lnSpcReduction="10000"/>
          </a:bodyPr>
          <a:lstStyle/>
          <a:p>
            <a:pPr>
              <a:buFont typeface="Wingdings" panose="05000000000000000000" pitchFamily="2" charset="2"/>
              <a:buChar char="q"/>
            </a:pPr>
            <a:r>
              <a:rPr lang="en-US" dirty="0"/>
              <a:t>All clients referenced in citations need to be referred to as patient(s). All facility staff that are referenced in citations need to be referred to as: “staff a” or “staff b” based on the staff and patient identifier list. </a:t>
            </a:r>
          </a:p>
          <a:p>
            <a:pPr>
              <a:buFont typeface="Wingdings" panose="05000000000000000000" pitchFamily="2" charset="2"/>
              <a:buChar char="q"/>
            </a:pPr>
            <a:r>
              <a:rPr lang="en-US" dirty="0"/>
              <a:t>When referring to many patients or staff use “patients #1, #2, #3” or “staff a, b, c,”.</a:t>
            </a:r>
          </a:p>
        </p:txBody>
      </p:sp>
    </p:spTree>
    <p:extLst>
      <p:ext uri="{BB962C8B-B14F-4D97-AF65-F5344CB8AC3E}">
        <p14:creationId xmlns:p14="http://schemas.microsoft.com/office/powerpoint/2010/main" val="3071771991"/>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1735" y="617838"/>
            <a:ext cx="3935688" cy="655771"/>
          </a:xfrm>
        </p:spPr>
        <p:txBody>
          <a:bodyPr/>
          <a:lstStyle/>
          <a:p>
            <a:r>
              <a:rPr lang="en-US" dirty="0"/>
              <a:t>Terminology</a:t>
            </a:r>
          </a:p>
        </p:txBody>
      </p:sp>
      <p:pic>
        <p:nvPicPr>
          <p:cNvPr id="5" name="Content Placeholder 4"/>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6483179" y="1507524"/>
            <a:ext cx="4150182" cy="3112637"/>
          </a:xfrm>
        </p:spPr>
      </p:pic>
      <p:sp>
        <p:nvSpPr>
          <p:cNvPr id="4" name="Text Placeholder 3"/>
          <p:cNvSpPr>
            <a:spLocks noGrp="1"/>
          </p:cNvSpPr>
          <p:nvPr>
            <p:ph type="body" sz="half" idx="2"/>
          </p:nvPr>
        </p:nvSpPr>
        <p:spPr>
          <a:xfrm>
            <a:off x="913774" y="1507524"/>
            <a:ext cx="5091610" cy="4283676"/>
          </a:xfrm>
        </p:spPr>
        <p:txBody>
          <a:bodyPr/>
          <a:lstStyle/>
          <a:p>
            <a:pPr marL="285750" indent="-285750" algn="l">
              <a:buFont typeface="Wingdings" panose="05000000000000000000" pitchFamily="2" charset="2"/>
              <a:buChar char="q"/>
            </a:pPr>
            <a:r>
              <a:rPr lang="en-US" dirty="0"/>
              <a:t>Use full name for terminology when first written in the </a:t>
            </a:r>
            <a:r>
              <a:rPr lang="en-US" dirty="0" err="1"/>
              <a:t>sOD</a:t>
            </a:r>
            <a:r>
              <a:rPr lang="en-US" dirty="0"/>
              <a:t>. Then, Make sure you Reference according to its’ abbreviation. Example: “behavioral health agency (BHA)”; “substance use disorder professional (</a:t>
            </a:r>
            <a:r>
              <a:rPr lang="en-US" dirty="0" err="1"/>
              <a:t>Sudp</a:t>
            </a:r>
            <a:r>
              <a:rPr lang="en-US" dirty="0"/>
              <a:t>)”. </a:t>
            </a:r>
          </a:p>
          <a:p>
            <a:pPr marL="285750" indent="-285750" algn="l">
              <a:buFont typeface="Wingdings" panose="05000000000000000000" pitchFamily="2" charset="2"/>
              <a:buChar char="q"/>
            </a:pPr>
            <a:r>
              <a:rPr lang="en-US" dirty="0"/>
              <a:t>All clinical terms should be in plain talk or defined in the body of the citation. Example: “lorazepam (a medication for sedation)”. </a:t>
            </a:r>
          </a:p>
          <a:p>
            <a:pPr marL="285750" indent="-285750" algn="l">
              <a:buFont typeface="Wingdings" panose="05000000000000000000" pitchFamily="2" charset="2"/>
              <a:buChar char="q"/>
            </a:pPr>
            <a:r>
              <a:rPr lang="en-US" dirty="0"/>
              <a:t>Only explain the term the first time used in the sod. </a:t>
            </a:r>
          </a:p>
        </p:txBody>
      </p:sp>
    </p:spTree>
    <p:extLst>
      <p:ext uri="{BB962C8B-B14F-4D97-AF65-F5344CB8AC3E}">
        <p14:creationId xmlns:p14="http://schemas.microsoft.com/office/powerpoint/2010/main" val="106484606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0632" y="609600"/>
            <a:ext cx="3935688" cy="1117089"/>
          </a:xfrm>
        </p:spPr>
        <p:txBody>
          <a:bodyPr/>
          <a:lstStyle/>
          <a:p>
            <a:r>
              <a:rPr lang="en-US" dirty="0"/>
              <a:t>General writing guidelines</a:t>
            </a:r>
          </a:p>
        </p:txBody>
      </p:sp>
      <p:pic>
        <p:nvPicPr>
          <p:cNvPr id="5" name="Content Placeholder 4"/>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7041331" y="1726689"/>
            <a:ext cx="3914570" cy="2935927"/>
          </a:xfrm>
        </p:spPr>
      </p:pic>
      <p:sp>
        <p:nvSpPr>
          <p:cNvPr id="4" name="Text Placeholder 3"/>
          <p:cNvSpPr>
            <a:spLocks noGrp="1"/>
          </p:cNvSpPr>
          <p:nvPr>
            <p:ph type="body" sz="half" idx="2"/>
          </p:nvPr>
        </p:nvSpPr>
        <p:spPr>
          <a:xfrm>
            <a:off x="913774" y="1932636"/>
            <a:ext cx="5569404" cy="3075970"/>
          </a:xfrm>
        </p:spPr>
        <p:txBody>
          <a:bodyPr/>
          <a:lstStyle/>
          <a:p>
            <a:pPr marL="285750" indent="-285750" algn="l">
              <a:buFont typeface="Wingdings" panose="05000000000000000000" pitchFamily="2" charset="2"/>
              <a:buChar char="q"/>
            </a:pPr>
            <a:r>
              <a:rPr lang="en-US" dirty="0"/>
              <a:t>Only use one space after a period. </a:t>
            </a:r>
          </a:p>
          <a:p>
            <a:pPr marL="285750" indent="-285750" algn="l">
              <a:buFont typeface="Wingdings" panose="05000000000000000000" pitchFamily="2" charset="2"/>
              <a:buChar char="q"/>
            </a:pPr>
            <a:r>
              <a:rPr lang="en-US" dirty="0"/>
              <a:t>Do not use “he/she”, “she/he” or “his/her”. </a:t>
            </a:r>
          </a:p>
          <a:p>
            <a:pPr marL="285750" indent="-285750" algn="l">
              <a:buFont typeface="Wingdings" panose="05000000000000000000" pitchFamily="2" charset="2"/>
              <a:buChar char="q"/>
            </a:pPr>
            <a:r>
              <a:rPr lang="en-US" dirty="0"/>
              <a:t>Do not put periods within an abbreviation. Example: do not write R.N., use RN.  </a:t>
            </a:r>
          </a:p>
        </p:txBody>
      </p:sp>
    </p:spTree>
    <p:extLst>
      <p:ext uri="{BB962C8B-B14F-4D97-AF65-F5344CB8AC3E}">
        <p14:creationId xmlns:p14="http://schemas.microsoft.com/office/powerpoint/2010/main" val="37308519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89D6052-EA05-1F03-74E5-8629DEC3B44F}"/>
              </a:ext>
            </a:extLst>
          </p:cNvPr>
          <p:cNvSpPr>
            <a:spLocks noGrp="1"/>
          </p:cNvSpPr>
          <p:nvPr>
            <p:ph type="title"/>
          </p:nvPr>
        </p:nvSpPr>
        <p:spPr>
          <a:xfrm>
            <a:off x="913774" y="828563"/>
            <a:ext cx="10351752" cy="695437"/>
          </a:xfrm>
        </p:spPr>
        <p:txBody>
          <a:bodyPr/>
          <a:lstStyle/>
          <a:p>
            <a:r>
              <a:rPr lang="en-US" u="sng" dirty="0"/>
              <a:t>Resources</a:t>
            </a:r>
          </a:p>
        </p:txBody>
      </p:sp>
      <p:sp>
        <p:nvSpPr>
          <p:cNvPr id="6" name="Text Placeholder 5">
            <a:extLst>
              <a:ext uri="{FF2B5EF4-FFF2-40B4-BE49-F238E27FC236}">
                <a16:creationId xmlns:a16="http://schemas.microsoft.com/office/drawing/2014/main" id="{E16383AE-DE99-7D69-A61E-6F077561CA77}"/>
              </a:ext>
            </a:extLst>
          </p:cNvPr>
          <p:cNvSpPr>
            <a:spLocks noGrp="1"/>
          </p:cNvSpPr>
          <p:nvPr>
            <p:ph type="body" idx="1"/>
          </p:nvPr>
        </p:nvSpPr>
        <p:spPr>
          <a:xfrm>
            <a:off x="2860020" y="2018952"/>
            <a:ext cx="7164824" cy="3240946"/>
          </a:xfrm>
        </p:spPr>
        <p:txBody>
          <a:bodyPr/>
          <a:lstStyle/>
          <a:p>
            <a:pPr algn="l"/>
            <a:r>
              <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Behavioral health inspections SharePoint</a:t>
            </a:r>
          </a:p>
          <a:p>
            <a:pPr algn="l"/>
            <a:r>
              <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Statement of Deficiency Standards (on SharePoint)</a:t>
            </a:r>
          </a:p>
          <a:p>
            <a:pPr algn="l"/>
            <a:r>
              <a:rPr lang="en-US" sz="18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Principles of documentation</a:t>
            </a:r>
            <a:r>
              <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pPr algn="l"/>
            <a:r>
              <a:rPr lang="en-US" sz="1800" b="1" dirty="0">
                <a:solidFill>
                  <a:srgbClr val="000000"/>
                </a:solidFill>
                <a:latin typeface="Times New Roman" panose="02020603050405020304" pitchFamily="18" charset="0"/>
                <a:cs typeface="Times New Roman" panose="02020603050405020304" pitchFamily="18" charset="0"/>
              </a:rPr>
              <a:t>Doh editorial style guide</a:t>
            </a:r>
          </a:p>
          <a:p>
            <a:pPr algn="l"/>
            <a:r>
              <a:rPr lang="en-US" sz="1800" b="1" dirty="0">
                <a:solidFill>
                  <a:srgbClr val="000000"/>
                </a:solidFill>
                <a:latin typeface="Times New Roman" panose="02020603050405020304" pitchFamily="18" charset="0"/>
                <a:cs typeface="Times New Roman" panose="02020603050405020304" pitchFamily="18" charset="0"/>
              </a:rPr>
              <a:t>Internet grammar resources</a:t>
            </a:r>
          </a:p>
          <a:p>
            <a:pPr algn="l"/>
            <a:r>
              <a:rPr lang="en-US" sz="1800" b="1" dirty="0">
                <a:solidFill>
                  <a:srgbClr val="000000"/>
                </a:solidFill>
                <a:latin typeface="Times New Roman" panose="02020603050405020304" pitchFamily="18" charset="0"/>
                <a:cs typeface="Times New Roman" panose="02020603050405020304" pitchFamily="18" charset="0"/>
              </a:rPr>
              <a:t>Your supervisor and colleagues</a:t>
            </a:r>
          </a:p>
          <a:p>
            <a:pPr algn="l"/>
            <a:endParaRPr lang="en-US" sz="1800" b="1" dirty="0">
              <a:solidFill>
                <a:srgbClr val="000000"/>
              </a:solidFill>
              <a:latin typeface="Times New Roman" panose="02020603050405020304" pitchFamily="18" charset="0"/>
              <a:cs typeface="Times New Roman" panose="02020603050405020304" pitchFamily="18" charset="0"/>
            </a:endParaRPr>
          </a:p>
          <a:p>
            <a:pPr algn="l"/>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29685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78000"/>
                <a:shade val="100000"/>
                <a:hueMod val="136000"/>
                <a:satMod val="160000"/>
                <a:lumMod val="105000"/>
              </a:schemeClr>
            </a:gs>
            <a:gs pos="100000">
              <a:schemeClr val="bg2">
                <a:shade val="92000"/>
                <a:satMod val="170000"/>
                <a:lumMod val="96000"/>
              </a:schemeClr>
            </a:gs>
          </a:gsLst>
          <a:lin ang="5400000" scaled="0"/>
        </a:gradFill>
        <a:effectLst/>
      </p:bgPr>
    </p:bg>
    <p:spTree>
      <p:nvGrpSpPr>
        <p:cNvPr id="1" name=""/>
        <p:cNvGrpSpPr/>
        <p:nvPr/>
      </p:nvGrpSpPr>
      <p:grpSpPr>
        <a:xfrm>
          <a:off x="0" y="0"/>
          <a:ext cx="0" cy="0"/>
          <a:chOff x="0" y="0"/>
          <a:chExt cx="0" cy="0"/>
        </a:xfrm>
      </p:grpSpPr>
      <p:pic>
        <p:nvPicPr>
          <p:cNvPr id="25" name="Picture 2">
            <a:extLst>
              <a:ext uri="{FF2B5EF4-FFF2-40B4-BE49-F238E27FC236}">
                <a16:creationId xmlns:a16="http://schemas.microsoft.com/office/drawing/2014/main" id="{E43006C0-9CF0-4AD0-9C72-B3F9942A80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8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a:extLst>
              <a:ext uri="{FF2B5EF4-FFF2-40B4-BE49-F238E27FC236}">
                <a16:creationId xmlns:a16="http://schemas.microsoft.com/office/drawing/2014/main" id="{78A20B43-EA35-4D51-8E25-05F8B334E9E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29" name="Rectangle 28">
            <a:extLst>
              <a:ext uri="{FF2B5EF4-FFF2-40B4-BE49-F238E27FC236}">
                <a16:creationId xmlns:a16="http://schemas.microsoft.com/office/drawing/2014/main" id="{53D1018B-412F-4D92-8F80-6D1E41C88D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2">
            <a:extLst>
              <a:ext uri="{FF2B5EF4-FFF2-40B4-BE49-F238E27FC236}">
                <a16:creationId xmlns:a16="http://schemas.microsoft.com/office/drawing/2014/main" id="{B59371E8-E3A5-457E-A234-8A4F8B8256C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group of people with their hands up in the air&#10;&#10;Description automatically generated with medium confidence">
            <a:extLst>
              <a:ext uri="{FF2B5EF4-FFF2-40B4-BE49-F238E27FC236}">
                <a16:creationId xmlns:a16="http://schemas.microsoft.com/office/drawing/2014/main" id="{9305566C-452C-7316-AF0B-016E68D39A50}"/>
              </a:ext>
            </a:extLst>
          </p:cNvPr>
          <p:cNvPicPr>
            <a:picLocks noChangeAspect="1"/>
          </p:cNvPicPr>
          <p:nvPr/>
        </p:nvPicPr>
        <p:blipFill rotWithShape="1">
          <a:blip r:embed="rId4"/>
          <a:srcRect l="24120"/>
          <a:stretch/>
        </p:blipFill>
        <p:spPr>
          <a:xfrm>
            <a:off x="6465337" y="1153811"/>
            <a:ext cx="4619754" cy="4550377"/>
          </a:xfrm>
          <a:prstGeom prst="roundRect">
            <a:avLst>
              <a:gd name="adj" fmla="val 5301"/>
            </a:avLst>
          </a:prstGeom>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pic>
        <p:nvPicPr>
          <p:cNvPr id="33" name="Picture 32">
            <a:extLst>
              <a:ext uri="{FF2B5EF4-FFF2-40B4-BE49-F238E27FC236}">
                <a16:creationId xmlns:a16="http://schemas.microsoft.com/office/drawing/2014/main" id="{4108FAA8-9416-4584-94E0-E60C0EF6F22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4">
            <a:extLst>
              <a:ext uri="{FF2B5EF4-FFF2-40B4-BE49-F238E27FC236}">
                <a16:creationId xmlns:a16="http://schemas.microsoft.com/office/drawing/2014/main" id="{1FA3AFFC-FE3B-5A1B-EA07-724A317B203A}"/>
              </a:ext>
            </a:extLst>
          </p:cNvPr>
          <p:cNvSpPr>
            <a:spLocks noGrp="1"/>
          </p:cNvSpPr>
          <p:nvPr>
            <p:ph type="title"/>
          </p:nvPr>
        </p:nvSpPr>
        <p:spPr>
          <a:xfrm>
            <a:off x="960120" y="957486"/>
            <a:ext cx="4175471" cy="3131913"/>
          </a:xfrm>
        </p:spPr>
        <p:txBody>
          <a:bodyPr vert="horz" lIns="91440" tIns="45720" rIns="91440" bIns="45720" rtlCol="0" anchor="b">
            <a:normAutofit/>
          </a:bodyPr>
          <a:lstStyle/>
          <a:p>
            <a:r>
              <a:rPr lang="en-US" sz="3400"/>
              <a:t>Thank you! We are happy to answer questions now and in the future. </a:t>
            </a:r>
            <a:r>
              <a:rPr lang="en-US" sz="3400">
                <a:sym typeface="Wingdings" panose="05000000000000000000" pitchFamily="2" charset="2"/>
              </a:rPr>
              <a:t></a:t>
            </a:r>
            <a:endParaRPr lang="en-US" sz="3400"/>
          </a:p>
        </p:txBody>
      </p:sp>
    </p:spTree>
    <p:extLst>
      <p:ext uri="{BB962C8B-B14F-4D97-AF65-F5344CB8AC3E}">
        <p14:creationId xmlns:p14="http://schemas.microsoft.com/office/powerpoint/2010/main" val="3360323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7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Droplet">
  <a:themeElements>
    <a:clrScheme name="Droplet">
      <a:dk1>
        <a:sysClr val="windowText" lastClr="000000"/>
      </a:dk1>
      <a:lt1>
        <a:sysClr val="window" lastClr="FFFFFF"/>
      </a:lt1>
      <a:dk2>
        <a:srgbClr val="27537E"/>
      </a:dk2>
      <a:lt2>
        <a:srgbClr val="AABED7"/>
      </a:lt2>
      <a:accent1>
        <a:srgbClr val="E34B7A"/>
      </a:accent1>
      <a:accent2>
        <a:srgbClr val="AC339A"/>
      </a:accent2>
      <a:accent3>
        <a:srgbClr val="6953B7"/>
      </a:accent3>
      <a:accent4>
        <a:srgbClr val="1D7EAB"/>
      </a:accent4>
      <a:accent5>
        <a:srgbClr val="43AFD6"/>
      </a:accent5>
      <a:accent6>
        <a:srgbClr val="DE85E1"/>
      </a:accent6>
      <a:hlink>
        <a:srgbClr val="ED87A6"/>
      </a:hlink>
      <a:folHlink>
        <a:srgbClr val="C99EAC"/>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78000"/>
                <a:shade val="100000"/>
                <a:hueMod val="136000"/>
                <a:satMod val="160000"/>
                <a:lumMod val="105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C71B277C-C29A-4BA0-A7BA-43502DF21AB3}"/>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61AC9B43F7CBB489153C42AD9B48A5B" ma:contentTypeVersion="4" ma:contentTypeDescription="Create a new document." ma:contentTypeScope="" ma:versionID="679611060b5ca8d3b626a215b129166f">
  <xsd:schema xmlns:xsd="http://www.w3.org/2001/XMLSchema" xmlns:xs="http://www.w3.org/2001/XMLSchema" xmlns:p="http://schemas.microsoft.com/office/2006/metadata/properties" xmlns:ns2="ff8c7a7d-32d8-4387-bde3-320c30626984" targetNamespace="http://schemas.microsoft.com/office/2006/metadata/properties" ma:root="true" ma:fieldsID="6f4c769241f82027d8e377b4000242f1" ns2:_="">
    <xsd:import namespace="ff8c7a7d-32d8-4387-bde3-320c3062698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8c7a7d-32d8-4387-bde3-320c3062698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49E01B9-B9B1-4F28-B6B7-11643CB889F7}">
  <ds:schemaRefs>
    <ds:schemaRef ds:uri="ff8c7a7d-32d8-4387-bde3-320c30626984"/>
    <ds:schemaRef ds:uri="http://purl.org/dc/elements/1.1/"/>
    <ds:schemaRef ds:uri="http://schemas.microsoft.com/office/2006/documentManagement/types"/>
    <ds:schemaRef ds:uri="http://schemas.microsoft.com/office/infopath/2007/PartnerControls"/>
    <ds:schemaRef ds:uri="http://purl.org/dc/terms/"/>
    <ds:schemaRef ds:uri="http://www.w3.org/XML/1998/namespace"/>
    <ds:schemaRef ds:uri="http://schemas.microsoft.com/office/2006/metadata/properties"/>
    <ds:schemaRef ds:uri="http://schemas.openxmlformats.org/package/2006/metadata/core-properties"/>
    <ds:schemaRef ds:uri="http://purl.org/dc/dcmitype/"/>
  </ds:schemaRefs>
</ds:datastoreItem>
</file>

<file path=customXml/itemProps2.xml><?xml version="1.0" encoding="utf-8"?>
<ds:datastoreItem xmlns:ds="http://schemas.openxmlformats.org/officeDocument/2006/customXml" ds:itemID="{89886310-AEE9-4AA1-A7B7-DBAB18C06E96}">
  <ds:schemaRefs>
    <ds:schemaRef ds:uri="http://schemas.microsoft.com/sharepoint/v3/contenttype/forms"/>
  </ds:schemaRefs>
</ds:datastoreItem>
</file>

<file path=customXml/itemProps3.xml><?xml version="1.0" encoding="utf-8"?>
<ds:datastoreItem xmlns:ds="http://schemas.openxmlformats.org/officeDocument/2006/customXml" ds:itemID="{785EBB7A-4D5F-4F74-A990-FA22D881299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f8c7a7d-32d8-4387-bde3-320c30626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TM04033925[[fn=Droplet]]</Template>
  <TotalTime>524</TotalTime>
  <Words>2921</Words>
  <Application>Microsoft Office PowerPoint</Application>
  <PresentationFormat>Widescreen</PresentationFormat>
  <Paragraphs>140</Paragraphs>
  <Slides>22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Calibri</vt:lpstr>
      <vt:lpstr>Castellar</vt:lpstr>
      <vt:lpstr>Symbol</vt:lpstr>
      <vt:lpstr>Times New Roman</vt:lpstr>
      <vt:lpstr>Tw Cen MT</vt:lpstr>
      <vt:lpstr>Wingdings</vt:lpstr>
      <vt:lpstr>Droplet</vt:lpstr>
      <vt:lpstr>Behavioral health statement of deficiency report writing standards </vt:lpstr>
      <vt:lpstr>Statement of deficiency principles</vt:lpstr>
      <vt:lpstr>Deficient practice statement (Based on statement)</vt:lpstr>
      <vt:lpstr>BASED ON STATEMENT EXAMPLE</vt:lpstr>
      <vt:lpstr>Outcome statement (failure to statement)</vt:lpstr>
      <vt:lpstr>failure to STATEMENT EXAMPLE</vt:lpstr>
      <vt:lpstr>References</vt:lpstr>
      <vt:lpstr>Reference example</vt:lpstr>
      <vt:lpstr>Findings</vt:lpstr>
      <vt:lpstr>Findings Example</vt:lpstr>
      <vt:lpstr>How to Document a facility or agency policy</vt:lpstr>
      <vt:lpstr>Policy reference example</vt:lpstr>
      <vt:lpstr>Documenting interviews</vt:lpstr>
      <vt:lpstr>Interview examples</vt:lpstr>
      <vt:lpstr>Document review</vt:lpstr>
      <vt:lpstr>Document review samples</vt:lpstr>
      <vt:lpstr>Documenting dates and times</vt:lpstr>
      <vt:lpstr>patient and Staff numbers</vt:lpstr>
      <vt:lpstr>Terminology</vt:lpstr>
      <vt:lpstr>General writing guidelines</vt:lpstr>
      <vt:lpstr>Resources</vt:lpstr>
      <vt:lpstr>Thank you! We are happy to answer questions now and in the future. </vt:lpstr>
    </vt:vector>
  </TitlesOfParts>
  <Company>Washington State Department of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Kuykendall, Jon  (DOH)</dc:creator>
  <cp:lastModifiedBy>Milligan, Jane D (DOH)</cp:lastModifiedBy>
  <cp:revision>38</cp:revision>
  <dcterms:created xsi:type="dcterms:W3CDTF">2019-09-03T20:03:53Z</dcterms:created>
  <dcterms:modified xsi:type="dcterms:W3CDTF">2025-08-11T15:22:49Z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0x010100261AC9B43F7CBB489153C42AD9B48A5B</vt:lpwstr>
  </property>
  <property fmtid="{D5CDD505-2E9C-101B-9397-08002B2CF9AE}" pid="3" name="_dlc_DocIdItemGuid">
    <vt:lpwstr>d165fdb8-1556-418d-bbd4-296812bd2a0b</vt:lpwstr>
  </property>
  <property fmtid="{D5CDD505-2E9C-101B-9397-08002B2CF9AE}" pid="4" name="MSIP_Label_1520fa42-cf58-4c22-8b93-58cf1d3bd1cb_Enabled">
    <vt:lpwstr>true</vt:lpwstr>
  </property>
  <property fmtid="{D5CDD505-2E9C-101B-9397-08002B2CF9AE}" pid="5" name="MSIP_Label_1520fa42-cf58-4c22-8b93-58cf1d3bd1cb_SetDate">
    <vt:lpwstr>2023-07-28T16:25:19Z</vt:lpwstr>
  </property>
  <property fmtid="{D5CDD505-2E9C-101B-9397-08002B2CF9AE}" pid="6" name="MSIP_Label_1520fa42-cf58-4c22-8b93-58cf1d3bd1cb_Method">
    <vt:lpwstr>Standard</vt:lpwstr>
  </property>
  <property fmtid="{D5CDD505-2E9C-101B-9397-08002B2CF9AE}" pid="7" name="MSIP_Label_1520fa42-cf58-4c22-8b93-58cf1d3bd1cb_Name">
    <vt:lpwstr>Public Information</vt:lpwstr>
  </property>
  <property fmtid="{D5CDD505-2E9C-101B-9397-08002B2CF9AE}" pid="8" name="MSIP_Label_1520fa42-cf58-4c22-8b93-58cf1d3bd1cb_SiteId">
    <vt:lpwstr>11d0e217-264e-400a-8ba0-57dcc127d72d</vt:lpwstr>
  </property>
  <property fmtid="{D5CDD505-2E9C-101B-9397-08002B2CF9AE}" pid="9" name="MSIP_Label_1520fa42-cf58-4c22-8b93-58cf1d3bd1cb_ActionId">
    <vt:lpwstr>64ea0b92-a677-43ba-a0a1-a3ef564f8590</vt:lpwstr>
  </property>
  <property fmtid="{D5CDD505-2E9C-101B-9397-08002B2CF9AE}" pid="10" name="MSIP_Label_1520fa42-cf58-4c22-8b93-58cf1d3bd1cb_ContentBits">
    <vt:lpwstr>0</vt:lpwstr>
  </property>
  <property fmtid="{D5CDD505-2E9C-101B-9397-08002B2CF9AE}" pid="11" name="MediaServiceImageTags">
    <vt:lpwstr/>
  </property>
  <property fmtid="{D5CDD505-2E9C-101B-9397-08002B2CF9AE}" pid="12" name="xd_ProgID">
    <vt:lpwstr/>
  </property>
  <property fmtid="{D5CDD505-2E9C-101B-9397-08002B2CF9AE}" pid="13" name="_dlc_DocId">
    <vt:lpwstr>PV25X54MA5AD-896105636-29</vt:lpwstr>
  </property>
  <property fmtid="{D5CDD505-2E9C-101B-9397-08002B2CF9AE}" pid="14" name="ComplianceAssetId">
    <vt:lpwstr/>
  </property>
  <property fmtid="{D5CDD505-2E9C-101B-9397-08002B2CF9AE}" pid="15" name="TemplateUrl">
    <vt:lpwstr/>
  </property>
  <property fmtid="{D5CDD505-2E9C-101B-9397-08002B2CF9AE}" pid="16" name="Program">
    <vt:lpwstr>;#Behavioral Health Review;#Behavioral Health Investigation;#</vt:lpwstr>
  </property>
  <property fmtid="{D5CDD505-2E9C-101B-9397-08002B2CF9AE}" pid="17" name="_ExtendedDescription">
    <vt:lpwstr/>
  </property>
  <property fmtid="{D5CDD505-2E9C-101B-9397-08002B2CF9AE}" pid="18" name="TriggerFlowInfo">
    <vt:lpwstr/>
  </property>
  <property fmtid="{D5CDD505-2E9C-101B-9397-08002B2CF9AE}" pid="19" name="Document Type">
    <vt:lpwstr>Training</vt:lpwstr>
  </property>
  <property fmtid="{D5CDD505-2E9C-101B-9397-08002B2CF9AE}" pid="20" name="_dlc_DocIdUrl">
    <vt:lpwstr>https://stateofwa.sharepoint.com/sites/DOH-hsqa/oii/_layouts/15/DocIdRedir.aspx?ID=PV25X54MA5AD-896105636-29, PV25X54MA5AD-896105636-29</vt:lpwstr>
  </property>
  <property fmtid="{D5CDD505-2E9C-101B-9397-08002B2CF9AE}" pid="21" name="xd_Signature">
    <vt:bool>false</vt:bool>
  </property>
  <property fmtid="{D5CDD505-2E9C-101B-9397-08002B2CF9AE}" pid="22" name="MSIP_Label_1520fa42-cf58-4c22-8b93-58cf1d3bd1cb_Tag">
    <vt:lpwstr>10, 3, 0, 2</vt:lpwstr>
  </property>
</Properties>
</file>